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12B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480560"/>
            <a:ext cx="12191695" cy="38100"/>
          </a:xfrm>
          <a:prstGeom prst="rect">
            <a:avLst/>
          </a:prstGeom>
          <a:solidFill>
            <a:srgbClr val="00A8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 i="0">
                <a:solidFill>
                  <a:srgbClr val="FFFFFF"/>
                </a:solidFill>
                <a:latin typeface="Calibri"/>
              </a:rPr>
              <a:t>Suivi d'Exploitation Multi-Squads</a:t>
            </a:r>
          </a:p>
          <a:p>
            <a:r>
              <a:rPr sz="2000" b="0" i="0">
                <a:solidFill>
                  <a:srgbClr val="B9E8E8"/>
                </a:solidFill>
                <a:latin typeface="Calibri"/>
              </a:rPr>
              <a:t>Désignation hebdomadaire automatique, par squad et par rôle — annonce le vendredi, rappel le lundi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7548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0">
                <a:solidFill>
                  <a:srgbClr val="C9D3DC"/>
                </a:solidFill>
                <a:latin typeface="Calibri"/>
              </a:rPr>
              <a:t>PowerShell 5.1 + Excel · Task Scheduler · partage réseau Windows</a:t>
            </a:r>
          </a:p>
          <a:p>
            <a:r>
              <a:rPr sz="1300" b="0" i="1">
                <a:solidFill>
                  <a:srgbClr val="8F9BA8"/>
                </a:solidFill>
                <a:latin typeface="Calibri"/>
              </a:rPr>
              <a:t>Présentation &amp; revue de code — juillet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A8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12B36"/>
                </a:solidFill>
                <a:latin typeface="Calibri"/>
              </a:rPr>
              <a:t>Le besoin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1">
                <a:solidFill>
                  <a:srgbClr val="5A6672"/>
                </a:solidFill>
                <a:latin typeface="Calibri"/>
              </a:rPr>
              <a:t>Organiser équitablement le suivi d'exploitation de plusieurs squads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34440"/>
            <a:ext cx="11155680" cy="27940"/>
          </a:xfrm>
          <a:prstGeom prst="rect">
            <a:avLst/>
          </a:prstGeom>
          <a:solidFill>
            <a:srgbClr val="00A8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554480"/>
            <a:ext cx="111556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buFont typeface="Arial"/>
              <a:buChar char="▪"/>
            </a:pPr>
            <a:r>
              <a:rPr sz="1700" b="0" i="0">
                <a:solidFill>
                  <a:srgbClr val="212B36"/>
                </a:solidFill>
                <a:latin typeface="Calibri"/>
              </a:rPr>
              <a:t>Chaque semaine, chaque squad doit avoir </a:t>
            </a:r>
            <a:r>
              <a:rPr sz="1700" b="1" i="0">
                <a:solidFill>
                  <a:srgbClr val="212B36"/>
                </a:solidFill>
                <a:latin typeface="Calibri"/>
              </a:rPr>
              <a:t>une personne identifiée par rôle</a:t>
            </a:r>
            <a:r>
              <a:rPr sz="1700" b="0" i="0">
                <a:solidFill>
                  <a:srgbClr val="212B36"/>
                </a:solidFill>
                <a:latin typeface="Calibri"/>
              </a:rPr>
              <a:t> pour assurer le suivi d'exploitation (1 rôle = solo, 2 = binôme, 3 = trio…)</a:t>
            </a:r>
          </a:p>
          <a:p>
            <a:pPr>
              <a:spcAft>
                <a:spcPts val="800"/>
              </a:spcAft>
              <a:buFont typeface="Arial"/>
              <a:buChar char="▪"/>
            </a:pPr>
            <a:r>
              <a:rPr sz="1700" b="0" i="0">
                <a:solidFill>
                  <a:srgbClr val="212B36"/>
                </a:solidFill>
                <a:latin typeface="Calibri"/>
              </a:rPr>
              <a:t>Avant : désignation </a:t>
            </a:r>
            <a:r>
              <a:rPr sz="1700" b="1" i="0">
                <a:solidFill>
                  <a:srgbClr val="212B36"/>
                </a:solidFill>
                <a:latin typeface="Calibri"/>
              </a:rPr>
              <a:t>manuelle</a:t>
            </a:r>
            <a:r>
              <a:rPr sz="1700" b="0" i="0">
                <a:solidFill>
                  <a:srgbClr val="212B36"/>
                </a:solidFill>
                <a:latin typeface="Calibri"/>
              </a:rPr>
              <a:t> — oublis, iniquité, charge pour les responsables de squad</a:t>
            </a:r>
          </a:p>
          <a:p>
            <a:pPr>
              <a:spcAft>
                <a:spcPts val="800"/>
              </a:spcAft>
              <a:buFont typeface="Arial"/>
              <a:buChar char="▪"/>
            </a:pPr>
            <a:r>
              <a:rPr sz="1700" b="0" i="0">
                <a:solidFill>
                  <a:srgbClr val="212B36"/>
                </a:solidFill>
                <a:latin typeface="Calibri"/>
              </a:rPr>
              <a:t>Attendus :</a:t>
            </a:r>
          </a:p>
          <a:p>
            <a:pPr lvl="1">
              <a:spcAft>
                <a:spcPts val="800"/>
              </a:spcAft>
              <a:buFont typeface="Arial"/>
              <a:buChar char="–"/>
            </a:pPr>
            <a:r>
              <a:rPr sz="1500" b="0" i="0">
                <a:solidFill>
                  <a:srgbClr val="5A6672"/>
                </a:solidFill>
                <a:latin typeface="Calibri"/>
              </a:rPr>
              <a:t>rotation </a:t>
            </a:r>
            <a:r>
              <a:rPr sz="1500" b="1" i="0">
                <a:solidFill>
                  <a:srgbClr val="5A6672"/>
                </a:solidFill>
                <a:latin typeface="Calibri"/>
              </a:rPr>
              <a:t>équitable</a:t>
            </a:r>
            <a:r>
              <a:rPr sz="1500" b="0" i="0">
                <a:solidFill>
                  <a:srgbClr val="5A6672"/>
                </a:solidFill>
                <a:latin typeface="Calibri"/>
              </a:rPr>
              <a:t> (le moins souvent désigné passe en premier)</a:t>
            </a:r>
          </a:p>
          <a:p>
            <a:pPr lvl="1">
              <a:spcAft>
                <a:spcPts val="800"/>
              </a:spcAft>
              <a:buFont typeface="Arial"/>
              <a:buChar char="–"/>
            </a:pPr>
            <a:r>
              <a:rPr sz="1500" b="0" i="0">
                <a:solidFill>
                  <a:srgbClr val="5A6672"/>
                </a:solidFill>
                <a:latin typeface="Calibri"/>
              </a:rPr>
              <a:t>prise en compte automatique des </a:t>
            </a:r>
            <a:r>
              <a:rPr sz="1500" b="1" i="0">
                <a:solidFill>
                  <a:srgbClr val="5A6672"/>
                </a:solidFill>
                <a:latin typeface="Calibri"/>
              </a:rPr>
              <a:t>congés</a:t>
            </a:r>
            <a:r>
              <a:rPr sz="1500" b="0" i="0">
                <a:solidFill>
                  <a:srgbClr val="5A6672"/>
                </a:solidFill>
                <a:latin typeface="Calibri"/>
              </a:rPr>
              <a:t> (avec tolérance configurable)</a:t>
            </a:r>
          </a:p>
          <a:p>
            <a:pPr lvl="1">
              <a:spcAft>
                <a:spcPts val="800"/>
              </a:spcAft>
              <a:buFont typeface="Arial"/>
              <a:buChar char="–"/>
            </a:pPr>
            <a:r>
              <a:rPr sz="1500" b="1" i="0">
                <a:solidFill>
                  <a:srgbClr val="5A6672"/>
                </a:solidFill>
                <a:latin typeface="Calibri"/>
              </a:rPr>
              <a:t>annonce le vendredi</a:t>
            </a:r>
            <a:r>
              <a:rPr sz="1500" b="0" i="0">
                <a:solidFill>
                  <a:srgbClr val="5A6672"/>
                </a:solidFill>
                <a:latin typeface="Calibri"/>
              </a:rPr>
              <a:t> (semaine suivante) et </a:t>
            </a:r>
            <a:r>
              <a:rPr sz="1500" b="1" i="0">
                <a:solidFill>
                  <a:srgbClr val="5A6672"/>
                </a:solidFill>
                <a:latin typeface="Calibri"/>
              </a:rPr>
              <a:t>rappel le lundi</a:t>
            </a:r>
            <a:r>
              <a:rPr sz="1500" b="0" i="0">
                <a:solidFill>
                  <a:srgbClr val="5A6672"/>
                </a:solidFill>
                <a:latin typeface="Calibri"/>
              </a:rPr>
              <a:t> (semaine en cours)</a:t>
            </a:r>
          </a:p>
          <a:p>
            <a:pPr lvl="1">
              <a:spcAft>
                <a:spcPts val="800"/>
              </a:spcAft>
              <a:buFont typeface="Arial"/>
              <a:buChar char="–"/>
            </a:pPr>
            <a:r>
              <a:rPr sz="1500" b="0" i="0">
                <a:solidFill>
                  <a:srgbClr val="5A6672"/>
                </a:solidFill>
                <a:latin typeface="Calibri"/>
              </a:rPr>
              <a:t>alerte des admins si </a:t>
            </a:r>
            <a:r>
              <a:rPr sz="1500" b="1" i="0">
                <a:solidFill>
                  <a:srgbClr val="5A6672"/>
                </a:solidFill>
                <a:latin typeface="Calibri"/>
              </a:rPr>
              <a:t>aucun candidat</a:t>
            </a:r>
            <a:r>
              <a:rPr sz="1500" b="0" i="0">
                <a:solidFill>
                  <a:srgbClr val="5A6672"/>
                </a:solidFill>
                <a:latin typeface="Calibri"/>
              </a:rPr>
              <a:t> n'est disponible</a:t>
            </a:r>
          </a:p>
          <a:p>
            <a:pPr>
              <a:spcAft>
                <a:spcPts val="800"/>
              </a:spcAft>
              <a:buFont typeface="Arial"/>
              <a:buChar char="▪"/>
            </a:pPr>
            <a:r>
              <a:rPr sz="1700" b="0" i="0">
                <a:solidFill>
                  <a:srgbClr val="212B36"/>
                </a:solidFill>
                <a:latin typeface="Calibri"/>
              </a:rPr>
              <a:t>Contraintes : environnement </a:t>
            </a:r>
            <a:r>
              <a:rPr sz="1700" b="1" i="0">
                <a:solidFill>
                  <a:srgbClr val="212B36"/>
                </a:solidFill>
                <a:latin typeface="Calibri"/>
              </a:rPr>
              <a:t>Windows d'entreprise</a:t>
            </a:r>
            <a:r>
              <a:rPr sz="1700" b="0" i="0">
                <a:solidFill>
                  <a:srgbClr val="212B36"/>
                </a:solidFill>
                <a:latin typeface="Calibri"/>
              </a:rPr>
              <a:t> (PowerShell 5.1, Excel, SMTP anonyme), pas de base de données, self-service pour les squads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A8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12B36"/>
                </a:solidFill>
                <a:latin typeface="Calibri"/>
              </a:rPr>
              <a:t>Fonctionnement hebdomadaire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1">
                <a:solidFill>
                  <a:srgbClr val="5A6672"/>
                </a:solidFill>
                <a:latin typeface="Calibri"/>
              </a:rPr>
              <a:t>Deux tâches planifiées, un recalcul idempotent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34440"/>
            <a:ext cx="11155680" cy="27940"/>
          </a:xfrm>
          <a:prstGeom prst="rect">
            <a:avLst/>
          </a:prstGeom>
          <a:solidFill>
            <a:srgbClr val="00A8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737360"/>
            <a:ext cx="3566160" cy="3017520"/>
          </a:xfrm>
          <a:prstGeom prst="rect">
            <a:avLst/>
          </a:prstGeom>
          <a:solidFill>
            <a:srgbClr val="F2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737360"/>
            <a:ext cx="3566160" cy="38100"/>
          </a:xfrm>
          <a:prstGeom prst="rect">
            <a:avLst/>
          </a:prstGeom>
          <a:solidFill>
            <a:srgbClr val="00A8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828800"/>
            <a:ext cx="329184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 i="0">
                <a:solidFill>
                  <a:srgbClr val="00A8A8"/>
                </a:solidFill>
                <a:latin typeface="Calibri"/>
              </a:rPr>
              <a:t>Vendredi 06:00 — ANNONCE</a:t>
            </a:r>
          </a:p>
          <a:p>
            <a:pPr>
              <a:spcAft>
                <a:spcPts val="300"/>
              </a:spcAft>
            </a:pPr>
            <a:r>
              <a:rPr sz="1250" b="0" i="0">
                <a:solidFill>
                  <a:srgbClr val="212B36"/>
                </a:solidFill>
                <a:latin typeface="Calibri"/>
              </a:rPr>
              <a:t>Désigne pour la </a:t>
            </a:r>
            <a:r>
              <a:rPr sz="1250" b="1" i="0">
                <a:solidFill>
                  <a:srgbClr val="212B36"/>
                </a:solidFill>
                <a:latin typeface="Calibri"/>
              </a:rPr>
              <a:t>semaine suivante</a:t>
            </a:r>
          </a:p>
          <a:p>
            <a:pPr>
              <a:spcAft>
                <a:spcPts val="300"/>
              </a:spcAft>
            </a:pPr>
            <a:r>
              <a:rPr sz="1250" b="0" i="0">
                <a:solidFill>
                  <a:srgbClr val="212B36"/>
                </a:solidFill>
                <a:latin typeface="Calibri"/>
              </a:rPr>
              <a:t>Écrit l'</a:t>
            </a:r>
            <a:r>
              <a:rPr sz="1250" b="1" i="0">
                <a:solidFill>
                  <a:srgbClr val="212B36"/>
                </a:solidFill>
                <a:latin typeface="Calibri"/>
              </a:rPr>
              <a:t>Historique</a:t>
            </a:r>
            <a:r>
              <a:rPr sz="1250" b="0" i="0">
                <a:solidFill>
                  <a:srgbClr val="212B36"/>
                </a:solidFill>
                <a:latin typeface="Calibri"/>
              </a:rPr>
              <a:t> (1 ligne/rôle)</a:t>
            </a:r>
          </a:p>
          <a:p>
            <a:pPr>
              <a:spcAft>
                <a:spcPts val="300"/>
              </a:spcAft>
            </a:pPr>
            <a:r>
              <a:rPr sz="1250" b="0" i="0">
                <a:solidFill>
                  <a:srgbClr val="212B36"/>
                </a:solidFill>
                <a:latin typeface="Calibri"/>
              </a:rPr>
              <a:t>Mail aux </a:t>
            </a:r>
            <a:r>
              <a:rPr sz="1250" b="1" i="0">
                <a:solidFill>
                  <a:srgbClr val="212B36"/>
                </a:solidFill>
                <a:latin typeface="Calibri"/>
              </a:rPr>
              <a:t>désignés</a:t>
            </a:r>
            <a:r>
              <a:rPr sz="1250" b="0" i="0">
                <a:solidFill>
                  <a:srgbClr val="212B36"/>
                </a:solidFill>
                <a:latin typeface="Calibri"/>
              </a:rPr>
              <a:t> + Cc squad</a:t>
            </a:r>
          </a:p>
          <a:p>
            <a:pPr>
              <a:spcAft>
                <a:spcPts val="300"/>
              </a:spcAft>
            </a:pPr>
            <a:r>
              <a:rPr sz="1250" b="0" i="0">
                <a:solidFill>
                  <a:srgbClr val="212B36"/>
                </a:solidFill>
                <a:latin typeface="Calibri"/>
              </a:rPr>
              <a:t>Compteurs &amp; </a:t>
            </a:r>
            <a:r>
              <a:rPr sz="1250" b="1" i="0">
                <a:solidFill>
                  <a:srgbClr val="212B36"/>
                </a:solidFill>
                <a:latin typeface="Calibri"/>
              </a:rPr>
              <a:t>prévision 3 semaines</a:t>
            </a:r>
            <a:r>
              <a:rPr sz="1250" b="0" i="0">
                <a:solidFill>
                  <a:srgbClr val="212B36"/>
                </a:solidFill>
                <a:latin typeface="Calibri"/>
              </a:rPr>
              <a:t> dans le mail</a:t>
            </a:r>
          </a:p>
          <a:p>
            <a:pPr>
              <a:spcAft>
                <a:spcPts val="300"/>
              </a:spcAft>
            </a:pPr>
            <a:r>
              <a:rPr sz="1250" b="0" i="0">
                <a:solidFill>
                  <a:srgbClr val="212B36"/>
                </a:solidFill>
                <a:latin typeface="Calibri"/>
              </a:rPr>
              <a:t>Désignation </a:t>
            </a:r>
            <a:r>
              <a:rPr sz="1250" b="1" i="0">
                <a:solidFill>
                  <a:srgbClr val="212B36"/>
                </a:solidFill>
                <a:latin typeface="Calibri"/>
              </a:rPr>
              <a:t>prévisionnelle</a:t>
            </a:r>
            <a:r>
              <a:rPr sz="1250" b="0" i="0">
                <a:solidFill>
                  <a:srgbClr val="212B36"/>
                </a:solidFill>
                <a:latin typeface="Calibri"/>
              </a:rPr>
              <a:t> : le compteur n'est pas touché</a:t>
            </a:r>
          </a:p>
        </p:txBody>
      </p:sp>
      <p:sp>
        <p:nvSpPr>
          <p:cNvPr id="9" name="Rectangle 8"/>
          <p:cNvSpPr/>
          <p:nvPr/>
        </p:nvSpPr>
        <p:spPr>
          <a:xfrm>
            <a:off x="4343400" y="1737360"/>
            <a:ext cx="3566160" cy="3017520"/>
          </a:xfrm>
          <a:prstGeom prst="rect">
            <a:avLst/>
          </a:prstGeom>
          <a:solidFill>
            <a:srgbClr val="F2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3400" y="1737360"/>
            <a:ext cx="3566160" cy="38100"/>
          </a:xfrm>
          <a:prstGeom prst="rect">
            <a:avLst/>
          </a:prstGeom>
          <a:solidFill>
            <a:srgbClr val="5A66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0560" y="1828800"/>
            <a:ext cx="329184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 i="0">
                <a:solidFill>
                  <a:srgbClr val="5A6672"/>
                </a:solidFill>
                <a:latin typeface="Calibri"/>
              </a:rPr>
              <a:t>Week-end</a:t>
            </a:r>
          </a:p>
          <a:p>
            <a:pPr>
              <a:spcAft>
                <a:spcPts val="300"/>
              </a:spcAft>
            </a:pPr>
            <a:r>
              <a:rPr sz="1250" b="0" i="0">
                <a:solidFill>
                  <a:srgbClr val="212B36"/>
                </a:solidFill>
                <a:latin typeface="Calibri"/>
              </a:rPr>
              <a:t>Congés ajoutés, changements d'équipe possibles</a:t>
            </a:r>
          </a:p>
          <a:p>
            <a:pPr>
              <a:spcAft>
                <a:spcPts val="300"/>
              </a:spcAft>
            </a:pPr>
            <a:r>
              <a:rPr sz="1250" b="0" i="0">
                <a:solidFill>
                  <a:srgbClr val="212B36"/>
                </a:solidFill>
                <a:latin typeface="Calibri"/>
              </a:rPr>
              <a:t>Le classeur reste </a:t>
            </a:r>
            <a:r>
              <a:rPr sz="1250" b="1" i="0">
                <a:solidFill>
                  <a:srgbClr val="212B36"/>
                </a:solidFill>
                <a:latin typeface="Calibri"/>
              </a:rPr>
              <a:t>éditable</a:t>
            </a:r>
            <a:r>
              <a:rPr sz="1250" b="0" i="0">
                <a:solidFill>
                  <a:srgbClr val="212B36"/>
                </a:solidFill>
                <a:latin typeface="Calibri"/>
              </a:rPr>
              <a:t> par la squad (feuilles Membres / Congés)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83879" y="1737360"/>
            <a:ext cx="3566160" cy="3017520"/>
          </a:xfrm>
          <a:prstGeom prst="rect">
            <a:avLst/>
          </a:prstGeom>
          <a:solidFill>
            <a:srgbClr val="F2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83879" y="1737360"/>
            <a:ext cx="3566160" cy="3810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39" y="1828800"/>
            <a:ext cx="329184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 i="0">
                <a:solidFill>
                  <a:srgbClr val="2E75B6"/>
                </a:solidFill>
                <a:latin typeface="Calibri"/>
              </a:rPr>
              <a:t>Lundi 06:00 — RAPPEL</a:t>
            </a:r>
          </a:p>
          <a:p>
            <a:pPr>
              <a:spcAft>
                <a:spcPts val="300"/>
              </a:spcAft>
            </a:pPr>
            <a:r>
              <a:rPr sz="1250" b="1" i="0">
                <a:solidFill>
                  <a:srgbClr val="212B36"/>
                </a:solidFill>
                <a:latin typeface="Calibri"/>
              </a:rPr>
              <a:t>Recalcule</a:t>
            </a:r>
            <a:r>
              <a:rPr sz="1250" b="0" i="0">
                <a:solidFill>
                  <a:srgbClr val="212B36"/>
                </a:solidFill>
                <a:latin typeface="Calibri"/>
              </a:rPr>
              <a:t> la semaine en cours : reprend les congés du week-end</a:t>
            </a:r>
          </a:p>
          <a:p>
            <a:pPr>
              <a:spcAft>
                <a:spcPts val="300"/>
              </a:spcAft>
            </a:pPr>
            <a:r>
              <a:rPr sz="1250" b="0" i="0">
                <a:solidFill>
                  <a:srgbClr val="212B36"/>
                </a:solidFill>
                <a:latin typeface="Calibri"/>
              </a:rPr>
              <a:t>Si la personne annoncée est indisponible → </a:t>
            </a:r>
            <a:r>
              <a:rPr sz="1250" b="1" i="0">
                <a:solidFill>
                  <a:srgbClr val="212B36"/>
                </a:solidFill>
                <a:latin typeface="Calibri"/>
              </a:rPr>
              <a:t>une autre est désignée</a:t>
            </a:r>
          </a:p>
          <a:p>
            <a:pPr>
              <a:spcAft>
                <a:spcPts val="300"/>
              </a:spcAft>
            </a:pPr>
            <a:r>
              <a:rPr sz="1250" b="0" i="0">
                <a:solidFill>
                  <a:srgbClr val="212B36"/>
                </a:solidFill>
                <a:latin typeface="Calibri"/>
              </a:rPr>
              <a:t>Mail de rappel aux désignés</a:t>
            </a:r>
          </a:p>
          <a:p>
            <a:pPr>
              <a:spcAft>
                <a:spcPts val="300"/>
              </a:spcAft>
            </a:pPr>
            <a:r>
              <a:rPr sz="1250" b="1" i="0">
                <a:solidFill>
                  <a:srgbClr val="212B36"/>
                </a:solidFill>
                <a:latin typeface="Calibri"/>
              </a:rPr>
              <a:t>Confirme</a:t>
            </a:r>
            <a:r>
              <a:rPr sz="1250" b="0" i="0">
                <a:solidFill>
                  <a:srgbClr val="212B36"/>
                </a:solidFill>
                <a:latin typeface="Calibri"/>
              </a:rPr>
              <a:t> : Compteur +1 (cumul vivant, écrit dans Membres)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5029200"/>
            <a:ext cx="11155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212B36"/>
                </a:solidFill>
                <a:latin typeface="Calibri"/>
              </a:rPr>
              <a:t>Recalcul idempotent : </a:t>
            </a:r>
            <a:r>
              <a:rPr sz="1500" b="0" i="0">
                <a:solidFill>
                  <a:srgbClr val="5A6672"/>
                </a:solidFill>
                <a:latin typeface="Calibri"/>
              </a:rPr>
              <a:t>relancer une action redonne le même résultat tant que les données ne changent pas (les lignes de la semaine cible sont supprimées puis recalculées ; l'incrément d'un rappel précédent est annulé avant ré-incrément → pas de double comptage). Attention : chaque exécution renvoie un mail (pas de garde anti-doublon d'envoi).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A8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12B36"/>
                </a:solidFill>
                <a:latin typeface="Calibri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1">
                <a:solidFill>
                  <a:srgbClr val="5A6672"/>
                </a:solidFill>
                <a:latin typeface="Calibri"/>
              </a:rPr>
              <a:t>Un script global — une config complète par squad — un classeur par squad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34440"/>
            <a:ext cx="11155680" cy="27940"/>
          </a:xfrm>
          <a:prstGeom prst="rect">
            <a:avLst/>
          </a:prstGeom>
          <a:solidFill>
            <a:srgbClr val="00A8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508760"/>
            <a:ext cx="60350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 b="1">
                <a:solidFill>
                  <a:srgbClr val="00A8A8"/>
                </a:solidFill>
                <a:latin typeface="Consolas"/>
              </a:rPr>
              <a:t>\\srv-fichiers\suivi-exploitation\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212B36"/>
                </a:solidFill>
                <a:latin typeface="Consolas"/>
              </a:rPr>
              <a:t>├─ SuiviExploitation.ps1              (script unique)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212B36"/>
                </a:solidFill>
                <a:latin typeface="Consolas"/>
              </a:rPr>
              <a:t>├─ SendMailNotificationHTML.ps1  (moteur mail, non modifié)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212B36"/>
                </a:solidFill>
                <a:latin typeface="Consolas"/>
              </a:rPr>
              <a:t>├─ template-notification.html        (charte HTML)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212B36"/>
                </a:solidFill>
                <a:latin typeface="Consolas"/>
              </a:rPr>
              <a:t>├─ suivi_exploitation_template.xlsx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212B36"/>
                </a:solidFill>
                <a:latin typeface="Consolas"/>
              </a:rPr>
              <a:t>├─ _logs\                                     (orchestrateur + journaux)</a:t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00A8A8"/>
                </a:solidFill>
                <a:latin typeface="Consolas"/>
              </a:rPr>
              <a:t>├─ paiement\                              ← une squad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212B36"/>
                </a:solidFill>
                <a:latin typeface="Consolas"/>
              </a:rPr>
              <a:t>│   ├─ conf-suivi-squad.json         (config COMPLÈTE)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212B36"/>
                </a:solidFill>
                <a:latin typeface="Consolas"/>
              </a:rPr>
              <a:t>│   ├─ suivi_exploitation.xlsx        (données métier)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212B36"/>
                </a:solidFill>
                <a:latin typeface="Consolas"/>
              </a:rPr>
              <a:t>│   └─ historique\                        (copies datées, 28 j)</a:t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00A8A8"/>
                </a:solidFill>
                <a:latin typeface="Consolas"/>
              </a:rPr>
              <a:t>└─ catalogue\                             ← une autre squad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0" y="1600200"/>
            <a:ext cx="49377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buFont typeface="Arial"/>
              <a:buChar char="▪"/>
            </a:pPr>
            <a:r>
              <a:rPr sz="1500" b="1" i="0">
                <a:solidFill>
                  <a:srgbClr val="212B36"/>
                </a:solidFill>
                <a:latin typeface="Calibri"/>
              </a:rPr>
              <a:t>Pas de config globale</a:t>
            </a:r>
            <a:r>
              <a:rPr sz="1500" b="0" i="0">
                <a:solidFill>
                  <a:srgbClr val="212B36"/>
                </a:solidFill>
                <a:latin typeface="Calibri"/>
              </a:rPr>
              <a:t> : les squads sont </a:t>
            </a:r>
            <a:r>
              <a:rPr sz="1500" b="1" i="0">
                <a:solidFill>
                  <a:srgbClr val="212B36"/>
                </a:solidFill>
                <a:latin typeface="Calibri"/>
              </a:rPr>
              <a:t>découvertes</a:t>
            </a:r>
            <a:r>
              <a:rPr sz="1500" b="0" i="0">
                <a:solidFill>
                  <a:srgbClr val="212B36"/>
                </a:solidFill>
                <a:latin typeface="Calibri"/>
              </a:rPr>
              <a:t> en scannant les sous-dossiers (un dossier avec conf-suivi-squad.json = une squad ; dossiers « _… » ignorés)</a:t>
            </a:r>
          </a:p>
          <a:p>
            <a:pPr>
              <a:spcAft>
                <a:spcPts val="800"/>
              </a:spcAft>
              <a:buFont typeface="Arial"/>
              <a:buChar char="▪"/>
            </a:pPr>
            <a:r>
              <a:rPr sz="1500" b="1" i="0">
                <a:solidFill>
                  <a:srgbClr val="212B36"/>
                </a:solidFill>
                <a:latin typeface="Calibri"/>
              </a:rPr>
              <a:t>Autonomie</a:t>
            </a:r>
            <a:r>
              <a:rPr sz="1500" b="0" i="0">
                <a:solidFill>
                  <a:srgbClr val="212B36"/>
                </a:solidFill>
                <a:latin typeface="Calibri"/>
              </a:rPr>
              <a:t> : chaque squad porte son SMTP, son expéditeur, ses destinataires, son sujet, ses messages</a:t>
            </a:r>
          </a:p>
          <a:p>
            <a:pPr>
              <a:spcAft>
                <a:spcPts val="800"/>
              </a:spcAft>
              <a:buFont typeface="Arial"/>
              <a:buChar char="▪"/>
            </a:pPr>
            <a:r>
              <a:rPr sz="1500" b="1" i="0">
                <a:solidFill>
                  <a:srgbClr val="212B36"/>
                </a:solidFill>
                <a:latin typeface="Calibri"/>
              </a:rPr>
              <a:t>Moteur mail commun jamais modifié</a:t>
            </a:r>
            <a:r>
              <a:rPr sz="1500" b="0" i="0">
                <a:solidFill>
                  <a:srgbClr val="212B36"/>
                </a:solidFill>
                <a:latin typeface="Calibri"/>
              </a:rPr>
              <a:t> : il reçoit la config de la squad sérialisée dans un fichier temporaire</a:t>
            </a:r>
          </a:p>
          <a:p>
            <a:pPr>
              <a:spcAft>
                <a:spcPts val="800"/>
              </a:spcAft>
              <a:buFont typeface="Arial"/>
              <a:buChar char="▪"/>
            </a:pPr>
            <a:r>
              <a:rPr sz="1500" b="0" i="0">
                <a:solidFill>
                  <a:srgbClr val="212B36"/>
                </a:solidFill>
                <a:latin typeface="Calibri"/>
              </a:rPr>
              <a:t>Ajouter une squad = créer un dossier · retirer une squad = supprimer le dossier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A8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12B36"/>
                </a:solidFill>
                <a:latin typeface="Calibri"/>
              </a:rPr>
              <a:t>Configuration d'une squad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1">
                <a:solidFill>
                  <a:srgbClr val="5A6672"/>
                </a:solidFill>
                <a:latin typeface="Calibri"/>
              </a:rPr>
              <a:t>conf-suivi-squad.json — complet, autonome, self-service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34440"/>
            <a:ext cx="11155680" cy="27940"/>
          </a:xfrm>
          <a:prstGeom prst="rect">
            <a:avLst/>
          </a:prstGeom>
          <a:solidFill>
            <a:srgbClr val="00A8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554480"/>
            <a:ext cx="111556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buFont typeface="Arial"/>
              <a:buChar char="▪"/>
            </a:pPr>
            <a:r>
              <a:rPr sz="1600" b="1" i="0">
                <a:solidFill>
                  <a:srgbClr val="212B36"/>
                </a:solidFill>
                <a:latin typeface="Calibri"/>
              </a:rPr>
              <a:t>Obligatoires</a:t>
            </a:r>
            <a:r>
              <a:rPr sz="1600" b="0" i="0">
                <a:solidFill>
                  <a:srgbClr val="212B36"/>
                </a:solidFill>
                <a:latin typeface="Calibri"/>
              </a:rPr>
              <a:t> (validés par -Action Test et avant chaque traitement) : SmtpServer, From, To, TemplatePath, EmailsAdmin — présents </a:t>
            </a:r>
            <a:r>
              <a:rPr sz="1600" b="1" i="0">
                <a:solidFill>
                  <a:srgbClr val="212B36"/>
                </a:solidFill>
                <a:latin typeface="Calibri"/>
              </a:rPr>
              <a:t>et non vides</a:t>
            </a:r>
          </a:p>
          <a:p>
            <a:pPr>
              <a:spcAft>
                <a:spcPts val="800"/>
              </a:spcAft>
              <a:buFont typeface="Arial"/>
              <a:buChar char="▪"/>
            </a:pPr>
            <a:r>
              <a:rPr sz="1600" b="1" i="0">
                <a:solidFill>
                  <a:srgbClr val="212B36"/>
                </a:solidFill>
                <a:latin typeface="Calibri"/>
              </a:rPr>
              <a:t>To = repli uniquement</a:t>
            </a:r>
            <a:r>
              <a:rPr sz="1600" b="0" i="0">
                <a:solidFill>
                  <a:srgbClr val="212B36"/>
                </a:solidFill>
                <a:latin typeface="Calibri"/>
              </a:rPr>
              <a:t> : les mails partent aux personnes désignées (emails lus dans l'Excel)</a:t>
            </a:r>
          </a:p>
          <a:p>
            <a:pPr>
              <a:spcAft>
                <a:spcPts val="800"/>
              </a:spcAft>
              <a:buFont typeface="Arial"/>
              <a:buChar char="▪"/>
            </a:pPr>
            <a:r>
              <a:rPr sz="1600" b="1" i="0">
                <a:solidFill>
                  <a:srgbClr val="212B36"/>
                </a:solidFill>
                <a:latin typeface="Calibri"/>
              </a:rPr>
              <a:t>Cc</a:t>
            </a:r>
            <a:r>
              <a:rPr sz="1600" b="0" i="0">
                <a:solidFill>
                  <a:srgbClr val="212B36"/>
                </a:solidFill>
                <a:latin typeface="Calibri"/>
              </a:rPr>
              <a:t> vide ⇒ tous les membres actifs de la squad en copie</a:t>
            </a:r>
          </a:p>
          <a:p>
            <a:pPr>
              <a:spcAft>
                <a:spcPts val="800"/>
              </a:spcAft>
              <a:buFont typeface="Arial"/>
              <a:buChar char="▪"/>
            </a:pPr>
            <a:r>
              <a:rPr sz="1600" b="1" i="0">
                <a:solidFill>
                  <a:srgbClr val="212B36"/>
                </a:solidFill>
                <a:latin typeface="Calibri"/>
              </a:rPr>
              <a:t>EmailsAdmin</a:t>
            </a:r>
            <a:r>
              <a:rPr sz="1600" b="0" i="0">
                <a:solidFill>
                  <a:srgbClr val="212B36"/>
                </a:solidFill>
                <a:latin typeface="Calibri"/>
              </a:rPr>
              <a:t> : destinataires des alertes de la squad (rôle sans candidat)</a:t>
            </a:r>
          </a:p>
          <a:p>
            <a:pPr>
              <a:spcAft>
                <a:spcPts val="800"/>
              </a:spcAft>
              <a:buFont typeface="Arial"/>
              <a:buChar char="▪"/>
            </a:pPr>
            <a:r>
              <a:rPr sz="1600" b="1" i="0">
                <a:solidFill>
                  <a:srgbClr val="212B36"/>
                </a:solidFill>
                <a:latin typeface="Calibri"/>
              </a:rPr>
              <a:t>Subject / Statuses / MessageLibre</a:t>
            </a:r>
            <a:r>
              <a:rPr sz="1600" b="0" i="0">
                <a:solidFill>
                  <a:srgbClr val="212B36"/>
                </a:solidFill>
                <a:latin typeface="Calibri"/>
              </a:rPr>
              <a:t> : personnalisables, avec placeholders —</a:t>
            </a:r>
          </a:p>
          <a:p>
            <a:pPr lvl="1">
              <a:spcAft>
                <a:spcPts val="800"/>
              </a:spcAft>
              <a:buFont typeface="Arial"/>
              <a:buChar char="–"/>
            </a:pPr>
            <a:r>
              <a:rPr sz="1400" b="0" i="0">
                <a:solidFill>
                  <a:srgbClr val="5A6672"/>
                </a:solidFill>
                <a:latin typeface="Calibri"/>
              </a:rPr>
              <a:t>{{JOB_NAME}}, {{STATUS_LABEL}}, {{DATE}}, {{ENVIRONNEMENT}}</a:t>
            </a:r>
          </a:p>
          <a:p>
            <a:pPr lvl="1">
              <a:spcAft>
                <a:spcPts val="800"/>
              </a:spcAft>
              <a:buFont typeface="Arial"/>
              <a:buChar char="–"/>
            </a:pPr>
            <a:r>
              <a:rPr sz="1400" b="0" i="0">
                <a:solidFill>
                  <a:srgbClr val="5A6672"/>
                </a:solidFill>
                <a:latin typeface="Calibri"/>
              </a:rPr>
              <a:t>semaine cible : {{SEMAINE}} (lundi), {{SEMAINE_NUM}} (n° ISO, ex. S27), {{PERIODE}}</a:t>
            </a:r>
          </a:p>
          <a:p>
            <a:pPr>
              <a:spcAft>
                <a:spcPts val="800"/>
              </a:spcAft>
              <a:buFont typeface="Arial"/>
              <a:buChar char="▪"/>
            </a:pPr>
            <a:r>
              <a:rPr sz="1600" b="1" i="0">
                <a:solidFill>
                  <a:srgbClr val="212B36"/>
                </a:solidFill>
                <a:latin typeface="Calibri"/>
              </a:rPr>
              <a:t>ToleranceCongesJours</a:t>
            </a:r>
            <a:r>
              <a:rPr sz="1600" b="0" i="0">
                <a:solidFill>
                  <a:srgbClr val="212B36"/>
                </a:solidFill>
                <a:latin typeface="Calibri"/>
              </a:rPr>
              <a:t> : réglable aussi (et en priorité) dans le classeur, zone C/D de Parametres</a:t>
            </a:r>
          </a:p>
          <a:p>
            <a:pPr>
              <a:spcAft>
                <a:spcPts val="800"/>
              </a:spcAft>
              <a:buFont typeface="Arial"/>
              <a:buChar char="▪"/>
            </a:pPr>
            <a:r>
              <a:rPr sz="1600" b="0" i="0">
                <a:solidFill>
                  <a:srgbClr val="212B36"/>
                </a:solidFill>
                <a:latin typeface="Calibri"/>
              </a:rPr>
              <a:t>JSON strict, </a:t>
            </a:r>
            <a:r>
              <a:rPr sz="1600" b="1" i="0">
                <a:solidFill>
                  <a:srgbClr val="212B36"/>
                </a:solidFill>
                <a:latin typeface="Calibri"/>
              </a:rPr>
              <a:t>UTF-8 (BOM recommandé)</a:t>
            </a:r>
            <a:r>
              <a:rPr sz="1600" b="0" i="0">
                <a:solidFill>
                  <a:srgbClr val="212B36"/>
                </a:solidFill>
                <a:latin typeface="Calibri"/>
              </a:rPr>
              <a:t> ; clés « _commentaire » tolérées (documentation, non transmises au moteur)</a:t>
            </a:r>
          </a:p>
          <a:p>
            <a:pPr>
              <a:spcAft>
                <a:spcPts val="800"/>
              </a:spcAft>
              <a:buFont typeface="Arial"/>
              <a:buChar char="▪"/>
            </a:pPr>
            <a:r>
              <a:rPr sz="1600" b="0" i="0">
                <a:solidFill>
                  <a:srgbClr val="212B36"/>
                </a:solidFill>
                <a:latin typeface="Calibri"/>
              </a:rPr>
              <a:t>Chemins relatifs (résolus depuis la racine) ou absolus/UNC — backslashes doublés dans le JSON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A8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12B36"/>
                </a:solidFill>
                <a:latin typeface="Calibri"/>
              </a:rPr>
              <a:t>Le classeur Excel d'une squad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1">
                <a:solidFill>
                  <a:srgbClr val="5A6672"/>
                </a:solidFill>
                <a:latin typeface="Calibri"/>
              </a:rPr>
              <a:t>5 feuilles — données métier uniquement, pas de VBA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34440"/>
            <a:ext cx="11155680" cy="27940"/>
          </a:xfrm>
          <a:prstGeom prst="rect">
            <a:avLst/>
          </a:prstGeom>
          <a:solidFill>
            <a:srgbClr val="00A8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554480"/>
          <a:ext cx="1115568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7223760"/>
                <a:gridCol w="2194560"/>
              </a:tblGrid>
              <a:tr h="54864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Feuille</a:t>
                      </a:r>
                    </a:p>
                  </a:txBody>
                  <a:tcPr>
                    <a:solidFill>
                      <a:srgbClr val="00A8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Contenu</a:t>
                      </a:r>
                    </a:p>
                  </a:txBody>
                  <a:tcPr>
                    <a:solidFill>
                      <a:srgbClr val="00A8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Qui écrit ?</a:t>
                      </a:r>
                    </a:p>
                  </a:txBody>
                  <a:tcPr>
                    <a:solidFill>
                      <a:srgbClr val="00A8A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12B36"/>
                          </a:solidFill>
                        </a:rPr>
                        <a:t>Parametres</a:t>
                      </a:r>
                    </a:p>
                  </a:txBody>
                  <a:tcPr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B36"/>
                          </a:solidFill>
                        </a:rPr>
                        <a:t>A : rôles à désigner (ordonnés — 1=solo, 2=binôme…) · C/D : clés self-service (Note &lt;Rôle&gt;, ToleranceCongesJours)</a:t>
                      </a:r>
                    </a:p>
                  </a:txBody>
                  <a:tcPr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B36"/>
                          </a:solidFill>
                        </a:rPr>
                        <a:t>Squad</a:t>
                      </a:r>
                    </a:p>
                  </a:txBody>
                  <a:tcPr>
                    <a:solidFill>
                      <a:srgbClr val="F2F6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12B36"/>
                          </a:solidFill>
                        </a:rPr>
                        <a:t>Membres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B36"/>
                          </a:solidFill>
                        </a:rPr>
                        <a:t>Nom, Email, Rôle, DateDernierSuivi (graine), Compteur (cumul vivant), Actif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B36"/>
                          </a:solidFill>
                        </a:rPr>
                        <a:t>Squad + script (Compteur seul)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12B36"/>
                          </a:solidFill>
                        </a:rPr>
                        <a:t>Congés</a:t>
                      </a:r>
                    </a:p>
                  </a:txBody>
                  <a:tcPr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B36"/>
                          </a:solidFill>
                        </a:rPr>
                        <a:t>Membre, Début, Fin — 1 jour = jour entier</a:t>
                      </a:r>
                    </a:p>
                  </a:txBody>
                  <a:tcPr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B36"/>
                          </a:solidFill>
                        </a:rPr>
                        <a:t>Squad</a:t>
                      </a:r>
                    </a:p>
                  </a:txBody>
                  <a:tcPr>
                    <a:solidFill>
                      <a:srgbClr val="F2F6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12B36"/>
                          </a:solidFill>
                        </a:rPr>
                        <a:t>Historique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B36"/>
                          </a:solidFill>
                        </a:rPr>
                        <a:t>Format long : 1 ligne par rôle désigné (SemaineLundi, Role, Nom, DateAnnonce, DateRappel, Statut…)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B36"/>
                          </a:solidFill>
                        </a:rPr>
                        <a:t>Script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12B36"/>
                          </a:solidFill>
                        </a:rPr>
                        <a:t>Log</a:t>
                      </a:r>
                    </a:p>
                  </a:txBody>
                  <a:tcPr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B36"/>
                          </a:solidFill>
                        </a:rPr>
                        <a:t>Fenêtre glissante des 1 000 dernières lignes</a:t>
                      </a:r>
                    </a:p>
                  </a:txBody>
                  <a:tcPr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B36"/>
                          </a:solidFill>
                        </a:rPr>
                        <a:t>Script</a:t>
                      </a:r>
                    </a:p>
                  </a:txBody>
                  <a:tcPr>
                    <a:solidFill>
                      <a:srgbClr val="F2F6F8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4983480"/>
            <a:ext cx="111556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buFont typeface="Arial"/>
              <a:buChar char="▪"/>
            </a:pPr>
            <a:r>
              <a:rPr sz="1400" b="1" i="0">
                <a:solidFill>
                  <a:srgbClr val="212B36"/>
                </a:solidFill>
                <a:latin typeface="Calibri"/>
              </a:rPr>
              <a:t>Listes déroulantes anti-faute</a:t>
            </a:r>
            <a:r>
              <a:rPr sz="1400" b="0" i="0">
                <a:solidFill>
                  <a:srgbClr val="212B36"/>
                </a:solidFill>
                <a:latin typeface="Calibri"/>
              </a:rPr>
              <a:t> : Rôle (depuis Parametres), Actif = Oui/Non, Congés!Membre (depuis Membres)</a:t>
            </a:r>
          </a:p>
          <a:p>
            <a:pPr>
              <a:spcAft>
                <a:spcPts val="800"/>
              </a:spcAft>
              <a:buFont typeface="Arial"/>
              <a:buChar char="▪"/>
            </a:pPr>
            <a:r>
              <a:rPr sz="1400" b="1" i="0">
                <a:solidFill>
                  <a:srgbClr val="212B36"/>
                </a:solidFill>
                <a:latin typeface="Calibri"/>
              </a:rPr>
              <a:t>Feuilles protégées</a:t>
            </a:r>
            <a:r>
              <a:rPr sz="1400" b="0" i="0">
                <a:solidFill>
                  <a:srgbClr val="212B36"/>
                </a:solidFill>
                <a:latin typeface="Calibri"/>
              </a:rPr>
              <a:t> (posé par le script, sans mot de passe) : Historique et Log verrouillées ; dans Membres seul le </a:t>
            </a:r>
            <a:r>
              <a:rPr sz="1400" b="1" i="0">
                <a:solidFill>
                  <a:srgbClr val="212B36"/>
                </a:solidFill>
                <a:latin typeface="Calibri"/>
              </a:rPr>
              <a:t>Compteur</a:t>
            </a:r>
            <a:r>
              <a:rPr sz="1400" b="0" i="0">
                <a:solidFill>
                  <a:srgbClr val="212B36"/>
                </a:solidFill>
                <a:latin typeface="Calibri"/>
              </a:rPr>
              <a:t> est verrouillé (saisie et insertion de lignes libres) ; Parametres et Congés non protégées</a:t>
            </a:r>
          </a:p>
          <a:p>
            <a:pPr>
              <a:spcAft>
                <a:spcPts val="800"/>
              </a:spcAft>
              <a:buFont typeface="Arial"/>
              <a:buChar char="▪"/>
            </a:pPr>
            <a:r>
              <a:rPr sz="1400" b="1" i="0">
                <a:solidFill>
                  <a:srgbClr val="212B36"/>
                </a:solidFill>
                <a:latin typeface="Calibri"/>
              </a:rPr>
              <a:t>La config mail n'est PAS dans le classeur</a:t>
            </a:r>
            <a:r>
              <a:rPr sz="1400" b="0" i="0">
                <a:solidFill>
                  <a:srgbClr val="212B36"/>
                </a:solidFill>
                <a:latin typeface="Calibri"/>
              </a:rPr>
              <a:t> (elle est dans conf-suivi-squad.json) — des commentaires de cellule le rappellent</a:t>
            </a:r>
          </a:p>
          <a:p>
            <a:pPr>
              <a:spcAft>
                <a:spcPts val="800"/>
              </a:spcAft>
              <a:buFont typeface="Arial"/>
              <a:buChar char="▪"/>
            </a:pPr>
            <a:r>
              <a:rPr sz="1400" b="0" i="0">
                <a:solidFill>
                  <a:srgbClr val="212B36"/>
                </a:solidFill>
                <a:latin typeface="Calibri"/>
              </a:rPr>
              <a:t>Lecture tolérante : dates multi-formats, valeurs invalides journalisées en WARN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A8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12B36"/>
                </a:solidFill>
                <a:latin typeface="Calibri"/>
              </a:rPr>
              <a:t>La règle de désignation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1">
                <a:solidFill>
                  <a:srgbClr val="5A6672"/>
                </a:solidFill>
                <a:latin typeface="Calibri"/>
              </a:rPr>
              <a:t>Pour chaque rôle : filtres d'éligibilité puis tri d'équité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34440"/>
            <a:ext cx="11155680" cy="27940"/>
          </a:xfrm>
          <a:prstGeom prst="rect">
            <a:avLst/>
          </a:prstGeom>
          <a:solidFill>
            <a:srgbClr val="00A8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600200"/>
            <a:ext cx="5394960" cy="4206240"/>
          </a:xfrm>
          <a:prstGeom prst="rect">
            <a:avLst/>
          </a:prstGeom>
          <a:solidFill>
            <a:srgbClr val="F2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600200"/>
            <a:ext cx="5394960" cy="38100"/>
          </a:xfrm>
          <a:prstGeom prst="rect">
            <a:avLst/>
          </a:prstGeom>
          <a:solidFill>
            <a:srgbClr val="00A8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691640"/>
            <a:ext cx="51206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 i="0">
                <a:solidFill>
                  <a:srgbClr val="00A8A8"/>
                </a:solidFill>
                <a:latin typeface="Calibri"/>
              </a:rPr>
              <a:t>1 · Filtres d'éligibilité</a:t>
            </a:r>
          </a:p>
          <a:p>
            <a:pPr>
              <a:spcAft>
                <a:spcPts val="300"/>
              </a:spcAft>
            </a:pPr>
            <a:r>
              <a:rPr sz="1400" b="0" i="0">
                <a:solidFill>
                  <a:srgbClr val="212B36"/>
                </a:solidFill>
                <a:latin typeface="Calibri"/>
              </a:rPr>
              <a:t>Membres </a:t>
            </a:r>
            <a:r>
              <a:rPr sz="1400" b="1" i="0">
                <a:solidFill>
                  <a:srgbClr val="212B36"/>
                </a:solidFill>
                <a:latin typeface="Calibri"/>
              </a:rPr>
              <a:t>actifs</a:t>
            </a:r>
            <a:r>
              <a:rPr sz="1400" b="0" i="0">
                <a:solidFill>
                  <a:srgbClr val="212B36"/>
                </a:solidFill>
                <a:latin typeface="Calibri"/>
              </a:rPr>
              <a:t> du rôle</a:t>
            </a:r>
          </a:p>
          <a:p>
            <a:pPr>
              <a:spcAft>
                <a:spcPts val="300"/>
              </a:spcAft>
            </a:pPr>
            <a:r>
              <a:rPr sz="1400" b="1" i="0">
                <a:solidFill>
                  <a:srgbClr val="212B36"/>
                </a:solidFill>
                <a:latin typeface="Calibri"/>
              </a:rPr>
              <a:t>Congés semaine cible</a:t>
            </a:r>
            <a:r>
              <a:rPr sz="1400" b="0" i="0">
                <a:solidFill>
                  <a:srgbClr val="212B36"/>
                </a:solidFill>
                <a:latin typeface="Calibri"/>
              </a:rPr>
              <a:t> : exclu si jours ouvrés en congé &gt; </a:t>
            </a:r>
            <a:r>
              <a:rPr sz="1400" b="1" i="0">
                <a:solidFill>
                  <a:srgbClr val="212B36"/>
                </a:solidFill>
                <a:latin typeface="Calibri"/>
              </a:rPr>
              <a:t>ToleranceCongesJours</a:t>
            </a:r>
            <a:r>
              <a:rPr sz="1400" b="0" i="0">
                <a:solidFill>
                  <a:srgbClr val="212B36"/>
                </a:solidFill>
                <a:latin typeface="Calibri"/>
              </a:rPr>
              <a:t> (défaut 0 = exclu dès 1 jour ; 1 = compatible temps partiel)</a:t>
            </a:r>
          </a:p>
          <a:p>
            <a:pPr>
              <a:spcAft>
                <a:spcPts val="300"/>
              </a:spcAft>
            </a:pPr>
            <a:r>
              <a:rPr sz="1400" b="1" i="0">
                <a:solidFill>
                  <a:srgbClr val="212B36"/>
                </a:solidFill>
                <a:latin typeface="Calibri"/>
              </a:rPr>
              <a:t>Vendredi précédent</a:t>
            </a:r>
            <a:r>
              <a:rPr sz="1400" b="0" i="0">
                <a:solidFill>
                  <a:srgbClr val="212B36"/>
                </a:solidFill>
                <a:latin typeface="Calibri"/>
              </a:rPr>
              <a:t> (passation) : exclusion </a:t>
            </a:r>
            <a:r>
              <a:rPr sz="1400" b="1" i="0">
                <a:solidFill>
                  <a:srgbClr val="212B36"/>
                </a:solidFill>
                <a:latin typeface="Calibri"/>
              </a:rPr>
              <a:t>stricte</a:t>
            </a:r>
            <a:r>
              <a:rPr sz="1400" b="0" i="0">
                <a:solidFill>
                  <a:srgbClr val="212B36"/>
                </a:solidFill>
                <a:latin typeface="Calibri"/>
              </a:rPr>
              <a:t>, hors tolérance</a:t>
            </a:r>
          </a:p>
          <a:p>
            <a:pPr>
              <a:spcAft>
                <a:spcPts val="300"/>
              </a:spcAft>
            </a:pPr>
            <a:r>
              <a:rPr sz="1400" b="1" i="0">
                <a:solidFill>
                  <a:srgbClr val="212B36"/>
                </a:solidFill>
                <a:latin typeface="Calibri"/>
              </a:rPr>
              <a:t>Pas 2 semaines d'affilée</a:t>
            </a:r>
            <a:r>
              <a:rPr sz="1400" b="0" i="0">
                <a:solidFill>
                  <a:srgbClr val="212B36"/>
                </a:solidFill>
                <a:latin typeface="Calibri"/>
              </a:rPr>
              <a:t> : le désigné précédent du rôle est écarté (sauf s'il est seul → il refait, WARN journalisé)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1600200"/>
            <a:ext cx="5394960" cy="4206240"/>
          </a:xfrm>
          <a:prstGeom prst="rect">
            <a:avLst/>
          </a:prstGeom>
          <a:solidFill>
            <a:srgbClr val="F2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63640" y="1600200"/>
            <a:ext cx="5394960" cy="3810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691640"/>
            <a:ext cx="51206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 i="0">
                <a:solidFill>
                  <a:srgbClr val="2E75B6"/>
                </a:solidFill>
                <a:latin typeface="Calibri"/>
              </a:rPr>
              <a:t>2 · Tri (on retient le premier)</a:t>
            </a:r>
          </a:p>
          <a:p>
            <a:pPr>
              <a:spcAft>
                <a:spcPts val="300"/>
              </a:spcAft>
            </a:pPr>
            <a:r>
              <a:rPr sz="1400" b="0" i="0">
                <a:solidFill>
                  <a:srgbClr val="212B36"/>
                </a:solidFill>
                <a:latin typeface="Calibri"/>
              </a:rPr>
              <a:t>① le </a:t>
            </a:r>
            <a:r>
              <a:rPr sz="1400" b="1" i="0">
                <a:solidFill>
                  <a:srgbClr val="212B36"/>
                </a:solidFill>
                <a:latin typeface="Calibri"/>
              </a:rPr>
              <a:t>moins souvent désigné</a:t>
            </a:r>
            <a:r>
              <a:rPr sz="1400" b="0" i="0">
                <a:solidFill>
                  <a:srgbClr val="212B36"/>
                </a:solidFill>
                <a:latin typeface="Calibri"/>
              </a:rPr>
              <a:t> (NB_FOIS = colonne Compteur) — équité réelle, rattrapage automatique</a:t>
            </a:r>
          </a:p>
          <a:p>
            <a:pPr>
              <a:spcAft>
                <a:spcPts val="300"/>
              </a:spcAft>
            </a:pPr>
            <a:r>
              <a:rPr sz="1400" b="0" i="0">
                <a:solidFill>
                  <a:srgbClr val="212B36"/>
                </a:solidFill>
                <a:latin typeface="Calibri"/>
              </a:rPr>
              <a:t>② à égalité : </a:t>
            </a:r>
            <a:r>
              <a:rPr sz="1400" b="1" i="0">
                <a:solidFill>
                  <a:srgbClr val="212B36"/>
                </a:solidFill>
                <a:latin typeface="Calibri"/>
              </a:rPr>
              <a:t>dernière désignation la plus ancienne</a:t>
            </a:r>
            <a:r>
              <a:rPr sz="1400" b="0" i="0">
                <a:solidFill>
                  <a:srgbClr val="212B36"/>
                </a:solidFill>
                <a:latin typeface="Calibri"/>
              </a:rPr>
              <a:t> — jamais désigné = priorité absolue</a:t>
            </a:r>
          </a:p>
          <a:p>
            <a:pPr>
              <a:spcAft>
                <a:spcPts val="300"/>
              </a:spcAft>
            </a:pPr>
            <a:r>
              <a:rPr sz="1400" b="0" i="0">
                <a:solidFill>
                  <a:srgbClr val="212B36"/>
                </a:solidFill>
                <a:latin typeface="Calibri"/>
              </a:rPr>
              <a:t>③ à égalité : ordre alphabétique</a:t>
            </a:r>
          </a:p>
          <a:p>
            <a:pPr>
              <a:spcAft>
                <a:spcPts val="300"/>
              </a:spcAft>
            </a:pPr>
          </a:p>
          <a:p>
            <a:pPr>
              <a:spcAft>
                <a:spcPts val="300"/>
              </a:spcAft>
            </a:pPr>
            <a:r>
              <a:rPr sz="1400" b="0" i="0">
                <a:solidFill>
                  <a:srgbClr val="212B36"/>
                </a:solidFill>
                <a:latin typeface="Calibri"/>
              </a:rPr>
              <a:t>Dernière désignation : </a:t>
            </a:r>
            <a:r>
              <a:rPr sz="1400" b="1" i="0">
                <a:solidFill>
                  <a:srgbClr val="212B36"/>
                </a:solidFill>
                <a:latin typeface="Calibri"/>
              </a:rPr>
              <a:t>Historique</a:t>
            </a:r>
            <a:r>
              <a:rPr sz="1400" b="0" i="0">
                <a:solidFill>
                  <a:srgbClr val="212B36"/>
                </a:solidFill>
                <a:latin typeface="Calibri"/>
              </a:rPr>
              <a:t> en priorité, sinon graine </a:t>
            </a:r>
            <a:r>
              <a:rPr sz="1400" b="1" i="0">
                <a:solidFill>
                  <a:srgbClr val="212B36"/>
                </a:solidFill>
                <a:latin typeface="Calibri"/>
              </a:rPr>
              <a:t>DateDernierSuivi</a:t>
            </a:r>
            <a:r>
              <a:rPr sz="1400" b="0" i="0">
                <a:solidFill>
                  <a:srgbClr val="212B36"/>
                </a:solidFill>
                <a:latin typeface="Calibri"/>
              </a:rPr>
              <a:t> (initialisation d'une équipe existante)</a:t>
            </a:r>
          </a:p>
          <a:p>
            <a:pPr>
              <a:spcAft>
                <a:spcPts val="300"/>
              </a:spcAft>
            </a:pPr>
            <a:r>
              <a:rPr sz="1400" b="1" i="0">
                <a:solidFill>
                  <a:srgbClr val="212B36"/>
                </a:solidFill>
                <a:latin typeface="Calibri"/>
              </a:rPr>
              <a:t>Aucun candidat ? → ALERTE atomique</a:t>
            </a:r>
            <a:r>
              <a:rPr sz="1400" b="0" i="0">
                <a:solidFill>
                  <a:srgbClr val="212B36"/>
                </a:solidFill>
                <a:latin typeface="Calibri"/>
              </a:rPr>
              <a:t> : rien n'est désigné, mail aux EmailsAdmin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A8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12B36"/>
                </a:solidFill>
                <a:latin typeface="Calibri"/>
              </a:rPr>
              <a:t>Le compteur : cumul vivant, confirmé au Rappel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1">
                <a:solidFill>
                  <a:srgbClr val="5A6672"/>
                </a:solidFill>
                <a:latin typeface="Calibri"/>
              </a:rPr>
              <a:t>Pourquoi l'annonce du vendredi n'incrémente pas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34440"/>
            <a:ext cx="11155680" cy="27940"/>
          </a:xfrm>
          <a:prstGeom prst="rect">
            <a:avLst/>
          </a:prstGeom>
          <a:solidFill>
            <a:srgbClr val="00A8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554480"/>
            <a:ext cx="111556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buFont typeface="Arial"/>
              <a:buChar char="▪"/>
            </a:pPr>
            <a:r>
              <a:rPr sz="1700" b="1" i="0">
                <a:solidFill>
                  <a:srgbClr val="212B36"/>
                </a:solidFill>
                <a:latin typeface="Calibri"/>
              </a:rPr>
              <a:t>NB_FOIS = colonne Compteur</a:t>
            </a:r>
            <a:r>
              <a:rPr sz="1700" b="0" i="0">
                <a:solidFill>
                  <a:srgbClr val="212B36"/>
                </a:solidFill>
                <a:latin typeface="Calibri"/>
              </a:rPr>
              <a:t> de la feuille Membres : lue telle quelle, </a:t>
            </a:r>
            <a:r>
              <a:rPr sz="1700" b="1" i="0">
                <a:solidFill>
                  <a:srgbClr val="212B36"/>
                </a:solidFill>
                <a:latin typeface="Calibri"/>
              </a:rPr>
              <a:t>incrémentée (+1) et réécrite par le script</a:t>
            </a:r>
            <a:r>
              <a:rPr sz="1700" b="0" i="0">
                <a:solidFill>
                  <a:srgbClr val="212B36"/>
                </a:solidFill>
                <a:latin typeface="Calibri"/>
              </a:rPr>
              <a:t> — seule colonne écrite dans Membres</a:t>
            </a:r>
          </a:p>
          <a:p>
            <a:pPr>
              <a:spcAft>
                <a:spcPts val="800"/>
              </a:spcAft>
              <a:buFont typeface="Arial"/>
              <a:buChar char="▪"/>
            </a:pPr>
            <a:r>
              <a:rPr sz="1700" b="1" i="0">
                <a:solidFill>
                  <a:srgbClr val="212B36"/>
                </a:solidFill>
                <a:latin typeface="Calibri"/>
              </a:rPr>
              <a:t>Uniquement au Rappel du lundi</a:t>
            </a:r>
            <a:r>
              <a:rPr sz="1700" b="0" i="0">
                <a:solidFill>
                  <a:srgbClr val="212B36"/>
                </a:solidFill>
                <a:latin typeface="Calibri"/>
              </a:rPr>
              <a:t> :</a:t>
            </a:r>
          </a:p>
          <a:p>
            <a:pPr lvl="1">
              <a:spcAft>
                <a:spcPts val="800"/>
              </a:spcAft>
              <a:buFont typeface="Arial"/>
              <a:buChar char="–"/>
            </a:pPr>
            <a:r>
              <a:rPr sz="1500" b="0" i="0">
                <a:solidFill>
                  <a:srgbClr val="5A6672"/>
                </a:solidFill>
                <a:latin typeface="Calibri"/>
              </a:rPr>
              <a:t>l'annonce du vendredi est </a:t>
            </a:r>
            <a:r>
              <a:rPr sz="1500" b="1" i="0">
                <a:solidFill>
                  <a:srgbClr val="5A6672"/>
                </a:solidFill>
                <a:latin typeface="Calibri"/>
              </a:rPr>
              <a:t>prévisionnelle</a:t>
            </a:r>
            <a:r>
              <a:rPr sz="1500" b="0" i="0">
                <a:solidFill>
                  <a:srgbClr val="5A6672"/>
                </a:solidFill>
                <a:latin typeface="Calibri"/>
              </a:rPr>
              <a:t> — congés et changements peuvent survenir le week-end</a:t>
            </a:r>
          </a:p>
          <a:p>
            <a:pPr lvl="1">
              <a:spcAft>
                <a:spcPts val="800"/>
              </a:spcAft>
              <a:buFont typeface="Arial"/>
              <a:buChar char="–"/>
            </a:pPr>
            <a:r>
              <a:rPr sz="1500" b="0" i="0">
                <a:solidFill>
                  <a:srgbClr val="5A6672"/>
                </a:solidFill>
                <a:latin typeface="Calibri"/>
              </a:rPr>
              <a:t>seul le Rappel </a:t>
            </a:r>
            <a:r>
              <a:rPr sz="1500" b="1" i="0">
                <a:solidFill>
                  <a:srgbClr val="5A6672"/>
                </a:solidFill>
                <a:latin typeface="Calibri"/>
              </a:rPr>
              <a:t>confirme</a:t>
            </a:r>
            <a:r>
              <a:rPr sz="1500" b="0" i="0">
                <a:solidFill>
                  <a:srgbClr val="5A6672"/>
                </a:solidFill>
                <a:latin typeface="Calibri"/>
              </a:rPr>
              <a:t> qui assure réellement le suivi</a:t>
            </a:r>
          </a:p>
          <a:p>
            <a:pPr>
              <a:spcAft>
                <a:spcPts val="800"/>
              </a:spcAft>
              <a:buFont typeface="Arial"/>
              <a:buChar char="▪"/>
            </a:pPr>
            <a:r>
              <a:rPr sz="1700" b="1" i="0">
                <a:solidFill>
                  <a:srgbClr val="212B36"/>
                </a:solidFill>
                <a:latin typeface="Calibri"/>
              </a:rPr>
              <a:t>Idempotence sur relance</a:t>
            </a:r>
            <a:r>
              <a:rPr sz="1700" b="0" i="0">
                <a:solidFill>
                  <a:srgbClr val="212B36"/>
                </a:solidFill>
                <a:latin typeface="Calibri"/>
              </a:rPr>
              <a:t> : avant recalcul, le script </a:t>
            </a:r>
            <a:r>
              <a:rPr sz="1700" b="1" i="0">
                <a:solidFill>
                  <a:srgbClr val="212B36"/>
                </a:solidFill>
                <a:latin typeface="Calibri"/>
              </a:rPr>
              <a:t>annule (-1)</a:t>
            </a:r>
            <a:r>
              <a:rPr sz="1700" b="0" i="0">
                <a:solidFill>
                  <a:srgbClr val="212B36"/>
                </a:solidFill>
                <a:latin typeface="Calibri"/>
              </a:rPr>
              <a:t> l'incrément d'un Rappel précédent (lignes avec DateRappel renseignée) puis ré-incrémente → pas de double comptage</a:t>
            </a:r>
          </a:p>
          <a:p>
            <a:pPr>
              <a:spcAft>
                <a:spcPts val="800"/>
              </a:spcAft>
              <a:buFont typeface="Arial"/>
              <a:buChar char="▪"/>
            </a:pPr>
            <a:r>
              <a:rPr sz="1700" b="1" i="0">
                <a:solidFill>
                  <a:srgbClr val="212B36"/>
                </a:solidFill>
                <a:latin typeface="Calibri"/>
              </a:rPr>
              <a:t>Atomicité</a:t>
            </a:r>
            <a:r>
              <a:rPr sz="1700" b="0" i="0">
                <a:solidFill>
                  <a:srgbClr val="212B36"/>
                </a:solidFill>
                <a:latin typeface="Calibri"/>
              </a:rPr>
              <a:t> : compteur, historique et mail sont écrits dans un .tmp promu en fin de traitement — si le mail échoue, rien n'est persisté</a:t>
            </a:r>
          </a:p>
          <a:p>
            <a:pPr>
              <a:spcAft>
                <a:spcPts val="800"/>
              </a:spcAft>
              <a:buFont typeface="Arial"/>
              <a:buChar char="▪"/>
            </a:pPr>
            <a:r>
              <a:rPr sz="1700" b="0" i="0">
                <a:solidFill>
                  <a:srgbClr val="212B36"/>
                </a:solidFill>
                <a:latin typeface="Calibri"/>
              </a:rPr>
              <a:t>La </a:t>
            </a:r>
            <a:r>
              <a:rPr sz="1700" b="1" i="0">
                <a:solidFill>
                  <a:srgbClr val="212B36"/>
                </a:solidFill>
                <a:latin typeface="Calibri"/>
              </a:rPr>
              <a:t>valeur saisie au départ</a:t>
            </a:r>
            <a:r>
              <a:rPr sz="1700" b="0" i="0">
                <a:solidFill>
                  <a:srgbClr val="212B36"/>
                </a:solidFill>
                <a:latin typeface="Calibri"/>
              </a:rPr>
              <a:t> sert de point de comptage initial (amorçage d'une équipe existante)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A8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12B36"/>
                </a:solidFill>
                <a:latin typeface="Calibri"/>
              </a:rPr>
              <a:t>Les trois mails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1">
                <a:solidFill>
                  <a:srgbClr val="5A6672"/>
                </a:solidFill>
                <a:latin typeface="Calibri"/>
              </a:rPr>
              <a:t>Charte HTML commune, contenu propre à chaque squad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34440"/>
            <a:ext cx="11155680" cy="27940"/>
          </a:xfrm>
          <a:prstGeom prst="rect">
            <a:avLst/>
          </a:prstGeom>
          <a:solidFill>
            <a:srgbClr val="00A8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600200"/>
            <a:ext cx="3566160" cy="4023360"/>
          </a:xfrm>
          <a:prstGeom prst="rect">
            <a:avLst/>
          </a:prstGeom>
          <a:solidFill>
            <a:srgbClr val="F2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600200"/>
            <a:ext cx="3566160" cy="38100"/>
          </a:xfrm>
          <a:prstGeom prst="rect">
            <a:avLst/>
          </a:prstGeom>
          <a:solidFill>
            <a:srgbClr val="00A8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691640"/>
            <a:ext cx="32918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 i="0">
                <a:solidFill>
                  <a:srgbClr val="00A8A8"/>
                </a:solidFill>
                <a:latin typeface="Calibri"/>
              </a:rPr>
              <a:t>DESIGNATION (vendredi)</a:t>
            </a:r>
          </a:p>
          <a:p>
            <a:pPr>
              <a:spcAft>
                <a:spcPts val="300"/>
              </a:spcAft>
            </a:pPr>
            <a:r>
              <a:rPr sz="1300" b="0" i="0">
                <a:solidFill>
                  <a:srgbClr val="212B36"/>
                </a:solidFill>
                <a:latin typeface="Calibri"/>
              </a:rPr>
              <a:t>Aux </a:t>
            </a:r>
            <a:r>
              <a:rPr sz="1300" b="1" i="0">
                <a:solidFill>
                  <a:srgbClr val="212B36"/>
                </a:solidFill>
                <a:latin typeface="Calibri"/>
              </a:rPr>
              <a:t>désignés</a:t>
            </a:r>
            <a:r>
              <a:rPr sz="1300" b="0" i="0">
                <a:solidFill>
                  <a:srgbClr val="212B36"/>
                </a:solidFill>
                <a:latin typeface="Calibri"/>
              </a:rPr>
              <a:t>, Cc squad</a:t>
            </a:r>
          </a:p>
          <a:p>
            <a:pPr>
              <a:spcAft>
                <a:spcPts val="300"/>
              </a:spcAft>
            </a:pPr>
            <a:r>
              <a:rPr sz="1300" b="0" i="0">
                <a:solidFill>
                  <a:srgbClr val="212B36"/>
                </a:solidFill>
                <a:latin typeface="Calibri"/>
              </a:rPr>
              <a:t>Désignation de la semaine (1 personne par rôle)</a:t>
            </a:r>
          </a:p>
          <a:p>
            <a:pPr>
              <a:spcAft>
                <a:spcPts val="300"/>
              </a:spcAft>
            </a:pPr>
            <a:r>
              <a:rPr sz="1300" b="1" i="0">
                <a:solidFill>
                  <a:srgbClr val="212B36"/>
                </a:solidFill>
                <a:latin typeface="Calibri"/>
              </a:rPr>
              <a:t>Prévision des 3 prochaines semaines</a:t>
            </a:r>
            <a:r>
              <a:rPr sz="1300" b="0" i="0">
                <a:solidFill>
                  <a:srgbClr val="212B36"/>
                </a:solidFill>
                <a:latin typeface="Calibri"/>
              </a:rPr>
              <a:t> (simulation de l'algo, 1 colonne/rôle)</a:t>
            </a:r>
          </a:p>
          <a:p>
            <a:pPr>
              <a:spcAft>
                <a:spcPts val="300"/>
              </a:spcAft>
            </a:pPr>
            <a:r>
              <a:rPr sz="1300" b="1" i="0">
                <a:solidFill>
                  <a:srgbClr val="212B36"/>
                </a:solidFill>
                <a:latin typeface="Calibri"/>
              </a:rPr>
              <a:t>Compteurs par rôle</a:t>
            </a:r>
            <a:r>
              <a:rPr sz="1300" b="0" i="0">
                <a:solidFill>
                  <a:srgbClr val="212B36"/>
                </a:solidFill>
                <a:latin typeface="Calibri"/>
              </a:rPr>
              <a:t> (Nom / Actif / Compteur / Dernier suivi), triés dans l'ordre de désignation</a:t>
            </a:r>
          </a:p>
          <a:p>
            <a:pPr>
              <a:spcAft>
                <a:spcPts val="300"/>
              </a:spcAft>
            </a:pPr>
            <a:r>
              <a:rPr sz="1300" b="0" i="0">
                <a:solidFill>
                  <a:srgbClr val="212B36"/>
                </a:solidFill>
                <a:latin typeface="Calibri"/>
              </a:rPr>
              <a:t>Note d'équipe (« Note &lt;Rôle&gt; ») si renseignée</a:t>
            </a:r>
          </a:p>
        </p:txBody>
      </p:sp>
      <p:sp>
        <p:nvSpPr>
          <p:cNvPr id="9" name="Rectangle 8"/>
          <p:cNvSpPr/>
          <p:nvPr/>
        </p:nvSpPr>
        <p:spPr>
          <a:xfrm>
            <a:off x="4343400" y="1600200"/>
            <a:ext cx="3566160" cy="4023360"/>
          </a:xfrm>
          <a:prstGeom prst="rect">
            <a:avLst/>
          </a:prstGeom>
          <a:solidFill>
            <a:srgbClr val="F2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3400" y="1600200"/>
            <a:ext cx="3566160" cy="3810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0560" y="1691640"/>
            <a:ext cx="32918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 i="0">
                <a:solidFill>
                  <a:srgbClr val="2E75B6"/>
                </a:solidFill>
                <a:latin typeface="Calibri"/>
              </a:rPr>
              <a:t>RAPPEL (lundi)</a:t>
            </a:r>
          </a:p>
          <a:p>
            <a:pPr>
              <a:spcAft>
                <a:spcPts val="300"/>
              </a:spcAft>
            </a:pPr>
            <a:r>
              <a:rPr sz="1300" b="0" i="0">
                <a:solidFill>
                  <a:srgbClr val="212B36"/>
                </a:solidFill>
                <a:latin typeface="Calibri"/>
              </a:rPr>
              <a:t>Aux </a:t>
            </a:r>
            <a:r>
              <a:rPr sz="1300" b="1" i="0">
                <a:solidFill>
                  <a:srgbClr val="212B36"/>
                </a:solidFill>
                <a:latin typeface="Calibri"/>
              </a:rPr>
              <a:t>désignés confirmés</a:t>
            </a:r>
            <a:r>
              <a:rPr sz="1300" b="0" i="0">
                <a:solidFill>
                  <a:srgbClr val="212B36"/>
                </a:solidFill>
                <a:latin typeface="Calibri"/>
              </a:rPr>
              <a:t> de la semaine en cours</a:t>
            </a:r>
          </a:p>
          <a:p>
            <a:pPr>
              <a:spcAft>
                <a:spcPts val="300"/>
              </a:spcAft>
            </a:pPr>
            <a:r>
              <a:rPr sz="1300" b="0" i="0">
                <a:solidFill>
                  <a:srgbClr val="212B36"/>
                </a:solidFill>
                <a:latin typeface="Calibri"/>
              </a:rPr>
              <a:t>Reprend les congés ajoutés le week-end</a:t>
            </a:r>
          </a:p>
          <a:p>
            <a:pPr>
              <a:spcAft>
                <a:spcPts val="300"/>
              </a:spcAft>
            </a:pPr>
            <a:r>
              <a:rPr sz="1300" b="0" i="0">
                <a:solidFill>
                  <a:srgbClr val="212B36"/>
                </a:solidFill>
                <a:latin typeface="Calibri"/>
              </a:rPr>
              <a:t>Renseigne </a:t>
            </a:r>
            <a:r>
              <a:rPr sz="1300" b="1" i="0">
                <a:solidFill>
                  <a:srgbClr val="212B36"/>
                </a:solidFill>
                <a:latin typeface="Calibri"/>
              </a:rPr>
              <a:t>DateRappel</a:t>
            </a:r>
            <a:r>
              <a:rPr sz="1300" b="0" i="0">
                <a:solidFill>
                  <a:srgbClr val="212B36"/>
                </a:solidFill>
                <a:latin typeface="Calibri"/>
              </a:rPr>
              <a:t> dans l'Historique</a:t>
            </a:r>
          </a:p>
          <a:p>
            <a:pPr>
              <a:spcAft>
                <a:spcPts val="300"/>
              </a:spcAft>
            </a:pPr>
            <a:r>
              <a:rPr sz="1300" b="0" i="0">
                <a:solidFill>
                  <a:srgbClr val="212B36"/>
                </a:solidFill>
                <a:latin typeface="Calibri"/>
              </a:rPr>
              <a:t>Confirme le </a:t>
            </a:r>
            <a:r>
              <a:rPr sz="1300" b="1" i="0">
                <a:solidFill>
                  <a:srgbClr val="212B36"/>
                </a:solidFill>
                <a:latin typeface="Calibri"/>
              </a:rPr>
              <a:t>Compteur</a:t>
            </a:r>
            <a:r>
              <a:rPr sz="1300" b="0" i="0">
                <a:solidFill>
                  <a:srgbClr val="212B36"/>
                </a:solidFill>
                <a:latin typeface="Calibri"/>
              </a:rPr>
              <a:t> (+1)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83879" y="1600200"/>
            <a:ext cx="3566160" cy="4023360"/>
          </a:xfrm>
          <a:prstGeom prst="rect">
            <a:avLst/>
          </a:prstGeom>
          <a:solidFill>
            <a:srgbClr val="F2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83879" y="1600200"/>
            <a:ext cx="3566160" cy="381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39" y="1691640"/>
            <a:ext cx="32918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 i="0">
                <a:solidFill>
                  <a:srgbClr val="C0392B"/>
                </a:solidFill>
                <a:latin typeface="Calibri"/>
              </a:rPr>
              <a:t>ALERTE</a:t>
            </a:r>
          </a:p>
          <a:p>
            <a:pPr>
              <a:spcAft>
                <a:spcPts val="300"/>
              </a:spcAft>
            </a:pPr>
            <a:r>
              <a:rPr sz="1300" b="0" i="0">
                <a:solidFill>
                  <a:srgbClr val="212B36"/>
                </a:solidFill>
                <a:latin typeface="Calibri"/>
              </a:rPr>
              <a:t>Aux </a:t>
            </a:r>
            <a:r>
              <a:rPr sz="1300" b="1" i="0">
                <a:solidFill>
                  <a:srgbClr val="212B36"/>
                </a:solidFill>
                <a:latin typeface="Calibri"/>
              </a:rPr>
              <a:t>EmailsAdmin</a:t>
            </a:r>
            <a:r>
              <a:rPr sz="1300" b="0" i="0">
                <a:solidFill>
                  <a:srgbClr val="212B36"/>
                </a:solidFill>
                <a:latin typeface="Calibri"/>
              </a:rPr>
              <a:t> de la squad</a:t>
            </a:r>
          </a:p>
          <a:p>
            <a:pPr>
              <a:spcAft>
                <a:spcPts val="300"/>
              </a:spcAft>
            </a:pPr>
            <a:r>
              <a:rPr sz="1300" b="0" i="0">
                <a:solidFill>
                  <a:srgbClr val="212B36"/>
                </a:solidFill>
                <a:latin typeface="Calibri"/>
              </a:rPr>
              <a:t>Un rôle </a:t>
            </a:r>
            <a:r>
              <a:rPr sz="1300" b="1" i="0">
                <a:solidFill>
                  <a:srgbClr val="212B36"/>
                </a:solidFill>
                <a:latin typeface="Calibri"/>
              </a:rPr>
              <a:t>sans candidat</a:t>
            </a:r>
            <a:r>
              <a:rPr sz="1300" b="0" i="0">
                <a:solidFill>
                  <a:srgbClr val="212B36"/>
                </a:solidFill>
                <a:latin typeface="Calibri"/>
              </a:rPr>
              <a:t> disponible</a:t>
            </a:r>
          </a:p>
          <a:p>
            <a:pPr>
              <a:spcAft>
                <a:spcPts val="300"/>
              </a:spcAft>
            </a:pPr>
            <a:r>
              <a:rPr sz="1300" b="1" i="0">
                <a:solidFill>
                  <a:srgbClr val="212B36"/>
                </a:solidFill>
                <a:latin typeface="Calibri"/>
              </a:rPr>
              <a:t>Atomique</a:t>
            </a:r>
            <a:r>
              <a:rPr sz="1300" b="0" i="0">
                <a:solidFill>
                  <a:srgbClr val="212B36"/>
                </a:solidFill>
                <a:latin typeface="Calibri"/>
              </a:rPr>
              <a:t> : aucune désignation commitée</a:t>
            </a:r>
          </a:p>
          <a:p>
            <a:pPr>
              <a:spcAft>
                <a:spcPts val="300"/>
              </a:spcAft>
            </a:pPr>
            <a:r>
              <a:rPr sz="1300" b="0" i="0">
                <a:solidFill>
                  <a:srgbClr val="212B36"/>
                </a:solidFill>
                <a:latin typeface="Calibri"/>
              </a:rPr>
              <a:t>Intervention manuelle demandée (désigner + compléter l'Historique)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580644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5A6672"/>
                </a:solidFill>
                <a:latin typeface="Calibri"/>
              </a:rPr>
              <a:t>Envoi délégué au moteur commun SendMailNotificationHTML.ps1 (process séparé, config squad sérialisée) — pas de repli : moteur introuvable = échec explicite. Pas de mail récapitulatif global.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A8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12B36"/>
                </a:solidFill>
                <a:latin typeface="Calibri"/>
              </a:rPr>
              <a:t>Robustesse &amp; exploitation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1">
                <a:solidFill>
                  <a:srgbClr val="5A6672"/>
                </a:solidFill>
                <a:latin typeface="Calibri"/>
              </a:rPr>
              <a:t>Pensé pour tourner sans surveillance sur un partage réseau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34440"/>
            <a:ext cx="11155680" cy="27940"/>
          </a:xfrm>
          <a:prstGeom prst="rect">
            <a:avLst/>
          </a:prstGeom>
          <a:solidFill>
            <a:srgbClr val="00A8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554480"/>
            <a:ext cx="111556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buFont typeface="Arial"/>
              <a:buChar char="▪"/>
            </a:pPr>
            <a:r>
              <a:rPr sz="1600" b="1" i="0">
                <a:solidFill>
                  <a:srgbClr val="212B36"/>
                </a:solidFill>
                <a:latin typeface="Calibri"/>
              </a:rPr>
              <a:t>Verrou applicatif</a:t>
            </a:r>
            <a:r>
              <a:rPr sz="1600" b="0" i="0">
                <a:solidFill>
                  <a:srgbClr val="212B36"/>
                </a:solidFill>
                <a:latin typeface="Calibri"/>
              </a:rPr>
              <a:t> &lt;squad&gt;\suivi_exploitation.lock : pose </a:t>
            </a:r>
            <a:r>
              <a:rPr sz="1600" b="1" i="0">
                <a:solidFill>
                  <a:srgbClr val="212B36"/>
                </a:solidFill>
                <a:latin typeface="Calibri"/>
              </a:rPr>
              <a:t>exclusive</a:t>
            </a:r>
            <a:r>
              <a:rPr sz="1600" b="0" i="0">
                <a:solidFill>
                  <a:srgbClr val="212B36"/>
                </a:solidFill>
                <a:latin typeface="Calibri"/>
              </a:rPr>
              <a:t> (deux lancements simultanés, un seul l'acquiert), abandon si un traitement est en cours (verrou &lt; 120 min), verrou orphelin supprimé avec WARN</a:t>
            </a:r>
          </a:p>
          <a:p>
            <a:pPr>
              <a:spcAft>
                <a:spcPts val="800"/>
              </a:spcAft>
              <a:buFont typeface="Arial"/>
              <a:buChar char="▪"/>
            </a:pPr>
            <a:r>
              <a:rPr sz="1600" b="1" i="0">
                <a:solidFill>
                  <a:srgbClr val="212B36"/>
                </a:solidFill>
                <a:latin typeface="Calibri"/>
              </a:rPr>
              <a:t>Attente du verrou Excel</a:t>
            </a:r>
            <a:r>
              <a:rPr sz="1600" b="0" i="0">
                <a:solidFill>
                  <a:srgbClr val="212B36"/>
                </a:solidFill>
                <a:latin typeface="Calibri"/>
              </a:rPr>
              <a:t> ~$ : jusqu'à 6 × 30 s si un utilisateur a le classeur ouvert</a:t>
            </a:r>
          </a:p>
          <a:p>
            <a:pPr>
              <a:spcAft>
                <a:spcPts val="800"/>
              </a:spcAft>
              <a:buFont typeface="Arial"/>
              <a:buChar char="▪"/>
            </a:pPr>
            <a:r>
              <a:rPr sz="1600" b="1" i="0">
                <a:solidFill>
                  <a:srgbClr val="212B36"/>
                </a:solidFill>
                <a:latin typeface="Calibri"/>
              </a:rPr>
              <a:t>Écriture transactionnelle</a:t>
            </a:r>
            <a:r>
              <a:rPr sz="1600" b="0" i="0">
                <a:solidFill>
                  <a:srgbClr val="212B36"/>
                </a:solidFill>
                <a:latin typeface="Calibri"/>
              </a:rPr>
              <a:t> : calcul dans un .tmp → copie de l'état courant dans historique\ → promotion du .tmp ; aucune fenêtre où le classeur disparaît</a:t>
            </a:r>
          </a:p>
          <a:p>
            <a:pPr>
              <a:spcAft>
                <a:spcPts val="800"/>
              </a:spcAft>
              <a:buFont typeface="Arial"/>
              <a:buChar char="▪"/>
            </a:pPr>
            <a:r>
              <a:rPr sz="1600" b="1" i="0">
                <a:solidFill>
                  <a:srgbClr val="212B36"/>
                </a:solidFill>
                <a:latin typeface="Calibri"/>
              </a:rPr>
              <a:t>Orchestrateur résilient</a:t>
            </a:r>
            <a:r>
              <a:rPr sz="1600" b="0" i="0">
                <a:solidFill>
                  <a:srgbClr val="212B36"/>
                </a:solidFill>
                <a:latin typeface="Calibri"/>
              </a:rPr>
              <a:t> : try/catch par squad — une squad en échec n'arrête pas les autres ; code de sortie ≠ 0 si anomalie</a:t>
            </a:r>
          </a:p>
          <a:p>
            <a:pPr>
              <a:spcAft>
                <a:spcPts val="800"/>
              </a:spcAft>
              <a:buFont typeface="Arial"/>
              <a:buChar char="▪"/>
            </a:pPr>
            <a:r>
              <a:rPr sz="1600" b="1" i="0">
                <a:solidFill>
                  <a:srgbClr val="212B36"/>
                </a:solidFill>
                <a:latin typeface="Calibri"/>
              </a:rPr>
              <a:t>Journalisation triple</a:t>
            </a:r>
            <a:r>
              <a:rPr sz="1600" b="0" i="0">
                <a:solidFill>
                  <a:srgbClr val="212B36"/>
                </a:solidFill>
                <a:latin typeface="Calibri"/>
              </a:rPr>
              <a:t> : console, _logs\ (orchestrateur + journal daté par squad), feuille Log du classeur (1 000 lignes glissantes)</a:t>
            </a:r>
          </a:p>
          <a:p>
            <a:pPr>
              <a:spcAft>
                <a:spcPts val="800"/>
              </a:spcAft>
              <a:buFont typeface="Arial"/>
              <a:buChar char="▪"/>
            </a:pPr>
            <a:r>
              <a:rPr sz="1600" b="1" i="0">
                <a:solidFill>
                  <a:srgbClr val="212B36"/>
                </a:solidFill>
                <a:latin typeface="Calibri"/>
              </a:rPr>
              <a:t>Rétention 28 jours</a:t>
            </a:r>
            <a:r>
              <a:rPr sz="1600" b="0" i="0">
                <a:solidFill>
                  <a:srgbClr val="212B36"/>
                </a:solidFill>
                <a:latin typeface="Calibri"/>
              </a:rPr>
              <a:t> (constante unique) : copies datées, logs, journaux</a:t>
            </a:r>
          </a:p>
          <a:p>
            <a:pPr>
              <a:spcAft>
                <a:spcPts val="800"/>
              </a:spcAft>
              <a:buFont typeface="Arial"/>
              <a:buChar char="▪"/>
            </a:pPr>
            <a:r>
              <a:rPr sz="1600" b="1" i="0">
                <a:solidFill>
                  <a:srgbClr val="212B36"/>
                </a:solidFill>
                <a:latin typeface="Calibri"/>
              </a:rPr>
              <a:t>-Action Test</a:t>
            </a:r>
            <a:r>
              <a:rPr sz="1600" b="0" i="0">
                <a:solidFill>
                  <a:srgbClr val="212B36"/>
                </a:solidFill>
                <a:latin typeface="Calibri"/>
              </a:rPr>
              <a:t> : validation complète par squad (config, clés, SMTP joignable, moteur, template, classeur, ≥ 1 actif par rôle)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A8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12B36"/>
                </a:solidFill>
                <a:latin typeface="Calibri"/>
              </a:rPr>
              <a:t>Installation &amp; onboarding d'une squad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1">
                <a:solidFill>
                  <a:srgbClr val="5A6672"/>
                </a:solidFill>
                <a:latin typeface="Calibri"/>
              </a:rPr>
              <a:t>De zéro à la première annonce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34440"/>
            <a:ext cx="11155680" cy="27940"/>
          </a:xfrm>
          <a:prstGeom prst="rect">
            <a:avLst/>
          </a:prstGeom>
          <a:solidFill>
            <a:srgbClr val="00A8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554480"/>
            <a:ext cx="111556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buFont typeface="Arial"/>
              <a:buChar char="▪"/>
            </a:pPr>
            <a:r>
              <a:rPr sz="1600" b="1" i="0">
                <a:solidFill>
                  <a:srgbClr val="212B36"/>
                </a:solidFill>
                <a:latin typeface="Calibri"/>
              </a:rPr>
              <a:t>1 · Déployer</a:t>
            </a:r>
            <a:r>
              <a:rPr sz="1600" b="0" i="0">
                <a:solidFill>
                  <a:srgbClr val="212B36"/>
                </a:solidFill>
                <a:latin typeface="Calibri"/>
              </a:rPr>
              <a:t> à la racine du partage : script, moteur, template HTML, gabarit de classeur</a:t>
            </a:r>
          </a:p>
          <a:p>
            <a:pPr>
              <a:spcAft>
                <a:spcPts val="800"/>
              </a:spcAft>
              <a:buFont typeface="Arial"/>
              <a:buChar char="▪"/>
            </a:pPr>
            <a:r>
              <a:rPr sz="1600" b="1" i="0">
                <a:solidFill>
                  <a:srgbClr val="212B36"/>
                </a:solidFill>
                <a:latin typeface="Calibri"/>
              </a:rPr>
              <a:t>2 · Créer la squad</a:t>
            </a:r>
            <a:r>
              <a:rPr sz="1600" b="0" i="0">
                <a:solidFill>
                  <a:srgbClr val="212B36"/>
                </a:solidFill>
                <a:latin typeface="Calibri"/>
              </a:rPr>
              <a:t> : .\SuiviExploitation.ps1 </a:t>
            </a:r>
            <a:r>
              <a:rPr sz="1600" b="1" i="0">
                <a:solidFill>
                  <a:srgbClr val="212B36"/>
                </a:solidFill>
                <a:latin typeface="Calibri"/>
              </a:rPr>
              <a:t>-Action NouvelleSquad</a:t>
            </a:r>
            <a:r>
              <a:rPr sz="1600" b="0" i="0">
                <a:solidFill>
                  <a:srgbClr val="212B36"/>
                </a:solidFill>
                <a:latin typeface="Calibri"/>
              </a:rPr>
              <a:t> — demande nom, rôles, SMTP, From, To, Cc, admins ; crée le dossier, copie le classeur (rôles pré-remplis) et écrit un conf-suivi-squad.json complet</a:t>
            </a:r>
          </a:p>
          <a:p>
            <a:pPr>
              <a:spcAft>
                <a:spcPts val="800"/>
              </a:spcAft>
              <a:buFont typeface="Arial"/>
              <a:buChar char="▪"/>
            </a:pPr>
            <a:r>
              <a:rPr sz="1600" b="1" i="0">
                <a:solidFill>
                  <a:srgbClr val="212B36"/>
                </a:solidFill>
                <a:latin typeface="Calibri"/>
              </a:rPr>
              <a:t>3 · Compléter la feuille Membres</a:t>
            </a:r>
            <a:r>
              <a:rPr sz="1600" b="0" i="0">
                <a:solidFill>
                  <a:srgbClr val="212B36"/>
                </a:solidFill>
                <a:latin typeface="Calibri"/>
              </a:rPr>
              <a:t> (Nom, Email, Rôle, Actif = Oui)</a:t>
            </a:r>
          </a:p>
          <a:p>
            <a:pPr>
              <a:spcAft>
                <a:spcPts val="800"/>
              </a:spcAft>
              <a:buFont typeface="Arial"/>
              <a:buChar char="▪"/>
            </a:pPr>
            <a:r>
              <a:rPr sz="1600" b="1" i="0">
                <a:solidFill>
                  <a:srgbClr val="212B36"/>
                </a:solidFill>
                <a:latin typeface="Calibri"/>
              </a:rPr>
              <a:t>4 · Valider</a:t>
            </a:r>
            <a:r>
              <a:rPr sz="1600" b="0" i="0">
                <a:solidFill>
                  <a:srgbClr val="212B36"/>
                </a:solidFill>
                <a:latin typeface="Calibri"/>
              </a:rPr>
              <a:t> : .\SuiviExploitation.ps1 </a:t>
            </a:r>
            <a:r>
              <a:rPr sz="1600" b="1" i="0">
                <a:solidFill>
                  <a:srgbClr val="212B36"/>
                </a:solidFill>
                <a:latin typeface="Calibri"/>
              </a:rPr>
              <a:t>-Action Test</a:t>
            </a:r>
            <a:r>
              <a:rPr sz="1600" b="0" i="0">
                <a:solidFill>
                  <a:srgbClr val="212B36"/>
                </a:solidFill>
                <a:latin typeface="Calibri"/>
              </a:rPr>
              <a:t> → sortie verte, code 0</a:t>
            </a:r>
          </a:p>
          <a:p>
            <a:pPr>
              <a:spcAft>
                <a:spcPts val="800"/>
              </a:spcAft>
              <a:buFont typeface="Arial"/>
              <a:buChar char="▪"/>
            </a:pPr>
            <a:r>
              <a:rPr sz="1600" b="1" i="0">
                <a:solidFill>
                  <a:srgbClr val="212B36"/>
                </a:solidFill>
                <a:latin typeface="Calibri"/>
              </a:rPr>
              <a:t>5 · Planifier</a:t>
            </a:r>
            <a:r>
              <a:rPr sz="1600" b="0" i="0">
                <a:solidFill>
                  <a:srgbClr val="212B36"/>
                </a:solidFill>
                <a:latin typeface="Calibri"/>
              </a:rPr>
              <a:t> les 2 tâches (compte de service) : </a:t>
            </a:r>
            <a:r>
              <a:rPr sz="1600" b="1" i="0">
                <a:solidFill>
                  <a:srgbClr val="212B36"/>
                </a:solidFill>
                <a:latin typeface="Calibri"/>
              </a:rPr>
              <a:t>Annonce vendredi 06:00</a:t>
            </a:r>
            <a:r>
              <a:rPr sz="1600" b="0" i="0">
                <a:solidFill>
                  <a:srgbClr val="212B36"/>
                </a:solidFill>
                <a:latin typeface="Calibri"/>
              </a:rPr>
              <a:t>, </a:t>
            </a:r>
            <a:r>
              <a:rPr sz="1600" b="1" i="0">
                <a:solidFill>
                  <a:srgbClr val="212B36"/>
                </a:solidFill>
                <a:latin typeface="Calibri"/>
              </a:rPr>
              <a:t>Rappel lundi 06:00</a:t>
            </a:r>
            <a:r>
              <a:rPr sz="1600" b="0" i="0">
                <a:solidFill>
                  <a:srgbClr val="212B36"/>
                </a:solidFill>
                <a:latin typeface="Calibri"/>
              </a:rPr>
              <a:t> (-ExecutionPolicy Bypass, script non signé sur partage)</a:t>
            </a:r>
          </a:p>
          <a:p>
            <a:pPr>
              <a:spcAft>
                <a:spcPts val="800"/>
              </a:spcAft>
              <a:buFont typeface="Arial"/>
              <a:buChar char="▪"/>
            </a:pPr>
            <a:r>
              <a:rPr sz="1600" b="1" i="0">
                <a:solidFill>
                  <a:srgbClr val="212B36"/>
                </a:solidFill>
                <a:latin typeface="Calibri"/>
              </a:rPr>
              <a:t>6 · Recette</a:t>
            </a:r>
            <a:r>
              <a:rPr sz="1600" b="0" i="0">
                <a:solidFill>
                  <a:srgbClr val="212B36"/>
                </a:solidFill>
                <a:latin typeface="Calibri"/>
              </a:rPr>
              <a:t> : annonce manuelle sur une squad pilote → vérifier mail, Historique, copie datée, journaux</a:t>
            </a:r>
          </a:p>
          <a:p>
            <a:pPr>
              <a:spcAft>
                <a:spcPts val="800"/>
              </a:spcAft>
              <a:buFont typeface="Arial"/>
              <a:buChar char="▪"/>
            </a:pPr>
          </a:p>
          <a:p>
            <a:pPr>
              <a:spcAft>
                <a:spcPts val="800"/>
              </a:spcAft>
              <a:buFont typeface="Arial"/>
              <a:buChar char="▪"/>
            </a:pPr>
            <a:r>
              <a:rPr sz="1600" b="0" i="0">
                <a:solidFill>
                  <a:srgbClr val="212B36"/>
                </a:solidFill>
                <a:latin typeface="Calibri"/>
              </a:rPr>
              <a:t>Au quotidien (self-service squad) : congés et membres dans le classeur, tolérance congés en zone C/D, config mail dans le JSON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A8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12B36"/>
                </a:solidFill>
                <a:latin typeface="Calibri"/>
              </a:rPr>
              <a:t>Revue de code — synthèse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1">
                <a:solidFill>
                  <a:srgbClr val="5A6672"/>
                </a:solidFill>
                <a:latin typeface="Calibri"/>
              </a:rPr>
              <a:t>Lecture complète du script (1 113 lignes) + vérification code ↔ documentation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34440"/>
            <a:ext cx="11155680" cy="27940"/>
          </a:xfrm>
          <a:prstGeom prst="rect">
            <a:avLst/>
          </a:prstGeom>
          <a:solidFill>
            <a:srgbClr val="00A8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554480"/>
            <a:ext cx="5394960" cy="4480560"/>
          </a:xfrm>
          <a:prstGeom prst="rect">
            <a:avLst/>
          </a:prstGeom>
          <a:solidFill>
            <a:srgbClr val="F2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554480"/>
            <a:ext cx="5394960" cy="38100"/>
          </a:xfrm>
          <a:prstGeom prst="rect">
            <a:avLst/>
          </a:prstGeom>
          <a:solidFill>
            <a:srgbClr val="00A8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645920"/>
            <a:ext cx="51206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 i="0">
                <a:solidFill>
                  <a:srgbClr val="00A8A8"/>
                </a:solidFill>
                <a:latin typeface="Calibri"/>
              </a:rPr>
              <a:t>Points forts</a:t>
            </a:r>
          </a:p>
          <a:p>
            <a:pPr>
              <a:spcAft>
                <a:spcPts val="300"/>
              </a:spcAft>
            </a:pPr>
            <a:r>
              <a:rPr sz="1350" b="1" i="0">
                <a:solidFill>
                  <a:srgbClr val="212B36"/>
                </a:solidFill>
                <a:latin typeface="Calibri"/>
              </a:rPr>
              <a:t>0 anomalie critique ou majeure</a:t>
            </a:r>
          </a:p>
          <a:p>
            <a:pPr>
              <a:spcAft>
                <a:spcPts val="300"/>
              </a:spcAft>
            </a:pPr>
            <a:r>
              <a:rPr sz="1350" b="0" i="0">
                <a:solidFill>
                  <a:srgbClr val="212B36"/>
                </a:solidFill>
                <a:latin typeface="Calibri"/>
              </a:rPr>
              <a:t>Écriture transactionnelle correcte : mail échoué ⇒ rien n'est persisté</a:t>
            </a:r>
          </a:p>
          <a:p>
            <a:pPr>
              <a:spcAft>
                <a:spcPts val="300"/>
              </a:spcAft>
            </a:pPr>
            <a:r>
              <a:rPr sz="1350" b="0" i="0">
                <a:solidFill>
                  <a:srgbClr val="212B36"/>
                </a:solidFill>
                <a:latin typeface="Calibri"/>
              </a:rPr>
              <a:t>Idempotence désignation + compteur vérifiée sur les cas limites (relances, changement de désigné)</a:t>
            </a:r>
          </a:p>
          <a:p>
            <a:pPr>
              <a:spcAft>
                <a:spcPts val="300"/>
              </a:spcAft>
            </a:pPr>
            <a:r>
              <a:rPr sz="1350" b="0" i="0">
                <a:solidFill>
                  <a:srgbClr val="212B36"/>
                </a:solidFill>
                <a:latin typeface="Calibri"/>
              </a:rPr>
              <a:t>Verrou avec notion de propriété (pas de vol de verrou)</a:t>
            </a:r>
          </a:p>
          <a:p>
            <a:pPr>
              <a:spcAft>
                <a:spcPts val="300"/>
              </a:spcAft>
            </a:pPr>
            <a:r>
              <a:rPr sz="1350" b="0" i="0">
                <a:solidFill>
                  <a:srgbClr val="212B36"/>
                </a:solidFill>
                <a:latin typeface="Calibri"/>
              </a:rPr>
              <a:t>Sérialisation JSON maison justifiée (pièges PS 5.1)</a:t>
            </a:r>
          </a:p>
          <a:p>
            <a:pPr>
              <a:spcAft>
                <a:spcPts val="300"/>
              </a:spcAft>
            </a:pPr>
            <a:r>
              <a:rPr sz="1350" b="0" i="0">
                <a:solidFill>
                  <a:srgbClr val="212B36"/>
                </a:solidFill>
                <a:latin typeface="Calibri"/>
              </a:rPr>
              <a:t>Commentaires ciblés sur les invariants, README exhaustif et à jour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1554480"/>
            <a:ext cx="5394960" cy="4480560"/>
          </a:xfrm>
          <a:prstGeom prst="rect">
            <a:avLst/>
          </a:prstGeom>
          <a:solidFill>
            <a:srgbClr val="F2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63640" y="1554480"/>
            <a:ext cx="5394960" cy="3810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645920"/>
            <a:ext cx="51206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 i="0">
                <a:solidFill>
                  <a:srgbClr val="2E75B6"/>
                </a:solidFill>
                <a:latin typeface="Calibri"/>
              </a:rPr>
              <a:t>Constats (3 moyens · 4 faibles · 6 infos) — TRAITÉS</a:t>
            </a:r>
          </a:p>
          <a:p>
            <a:pPr>
              <a:spcAft>
                <a:spcPts val="300"/>
              </a:spcAft>
            </a:pPr>
            <a:r>
              <a:rPr sz="1350" b="1" i="0">
                <a:solidFill>
                  <a:srgbClr val="212B36"/>
                </a:solidFill>
                <a:latin typeface="Calibri"/>
              </a:rPr>
              <a:t>M1 corrigé</a:t>
            </a:r>
            <a:r>
              <a:rPr sz="1350" b="0" i="0">
                <a:solidFill>
                  <a:srgbClr val="212B36"/>
                </a:solidFill>
                <a:latin typeface="Calibri"/>
              </a:rPr>
              <a:t> — filtre -Squad : dossier ou « Nom » de la config, correspondance exacte (dispo aussi sur -Action Test)</a:t>
            </a:r>
          </a:p>
          <a:p>
            <a:pPr>
              <a:spcAft>
                <a:spcPts val="300"/>
              </a:spcAft>
            </a:pPr>
            <a:r>
              <a:rPr sz="1350" b="1" i="0">
                <a:solidFill>
                  <a:srgbClr val="212B36"/>
                </a:solidFill>
                <a:latin typeface="Calibri"/>
              </a:rPr>
              <a:t>M2 corrigé</a:t>
            </a:r>
            <a:r>
              <a:rPr sz="1350" b="0" i="0">
                <a:solidFill>
                  <a:srgbClr val="212B36"/>
                </a:solidFill>
                <a:latin typeface="Calibri"/>
              </a:rPr>
              <a:t> — -Action Test contrôle désormais les 5 feuilles du classeur</a:t>
            </a:r>
          </a:p>
          <a:p>
            <a:pPr>
              <a:spcAft>
                <a:spcPts val="300"/>
              </a:spcAft>
            </a:pPr>
            <a:r>
              <a:rPr sz="1350" b="1" i="0">
                <a:solidFill>
                  <a:srgbClr val="212B36"/>
                </a:solidFill>
                <a:latin typeface="Calibri"/>
              </a:rPr>
              <a:t>M3 corrigé</a:t>
            </a:r>
            <a:r>
              <a:rPr sz="1350" b="0" i="0">
                <a:solidFill>
                  <a:srgbClr val="212B36"/>
                </a:solidFill>
                <a:latin typeface="Calibri"/>
              </a:rPr>
              <a:t> — clés obligatoires validées présentes ET non vides (plus d'alerte perdue en silence)</a:t>
            </a:r>
          </a:p>
          <a:p>
            <a:pPr>
              <a:spcAft>
                <a:spcPts val="300"/>
              </a:spcAft>
            </a:pPr>
            <a:r>
              <a:rPr sz="1350" b="1" i="0">
                <a:solidFill>
                  <a:srgbClr val="212B36"/>
                </a:solidFill>
                <a:latin typeface="Calibri"/>
              </a:rPr>
              <a:t>Autres</a:t>
            </a:r>
            <a:r>
              <a:rPr sz="1350" b="0" i="0">
                <a:solidFill>
                  <a:srgbClr val="212B36"/>
                </a:solidFill>
                <a:latin typeface="Calibri"/>
              </a:rPr>
              <a:t> : verrou posé de façon exclusive, WARN si ligne vide intercalée, nettoyage garanti des fichiers temporaires, placeholders échappés…</a:t>
            </a:r>
          </a:p>
          <a:p>
            <a:pPr>
              <a:spcAft>
                <a:spcPts val="300"/>
              </a:spcAft>
            </a:pPr>
            <a:r>
              <a:rPr sz="1350" b="0" i="0">
                <a:solidFill>
                  <a:srgbClr val="212B36"/>
                </a:solidFill>
                <a:latin typeface="Calibri"/>
              </a:rPr>
              <a:t>9 corrigés, 4 documentés — détail et validation de bout en bout : docs/Revue-de-code-Suivi-Exploitation.md §6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A8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12B36"/>
                </a:solidFill>
                <a:latin typeface="Calibri"/>
              </a:rPr>
              <a:t>Limitations connues &amp; pistes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1">
                <a:solidFill>
                  <a:srgbClr val="5A6672"/>
                </a:solidFill>
                <a:latin typeface="Calibri"/>
              </a:rPr>
              <a:t>Assumées et documentées dans le README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34440"/>
            <a:ext cx="11155680" cy="27940"/>
          </a:xfrm>
          <a:prstGeom prst="rect">
            <a:avLst/>
          </a:prstGeom>
          <a:solidFill>
            <a:srgbClr val="00A8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554480"/>
            <a:ext cx="111556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buFont typeface="Arial"/>
              <a:buChar char="▪"/>
            </a:pPr>
            <a:r>
              <a:rPr sz="1600" b="1" i="0">
                <a:solidFill>
                  <a:srgbClr val="212B36"/>
                </a:solidFill>
                <a:latin typeface="Calibri"/>
              </a:rPr>
              <a:t>Limitations</a:t>
            </a:r>
            <a:r>
              <a:rPr sz="1600" b="0" i="0">
                <a:solidFill>
                  <a:srgbClr val="212B36"/>
                </a:solidFill>
                <a:latin typeface="Calibri"/>
              </a:rPr>
              <a:t> :</a:t>
            </a:r>
          </a:p>
          <a:p>
            <a:pPr lvl="1">
              <a:spcAft>
                <a:spcPts val="800"/>
              </a:spcAft>
              <a:buFont typeface="Arial"/>
              <a:buChar char="–"/>
            </a:pPr>
            <a:r>
              <a:rPr sz="1400" b="0" i="0">
                <a:solidFill>
                  <a:srgbClr val="5A6672"/>
                </a:solidFill>
                <a:latin typeface="Calibri"/>
              </a:rPr>
              <a:t>moteur mail requis (pas d'envoi de secours) ; SMTP anonyme uniquement</a:t>
            </a:r>
          </a:p>
          <a:p>
            <a:pPr lvl="1">
              <a:spcAft>
                <a:spcPts val="800"/>
              </a:spcAft>
              <a:buFont typeface="Arial"/>
              <a:buChar char="–"/>
            </a:pPr>
            <a:r>
              <a:rPr sz="1400" b="0" i="0">
                <a:solidFill>
                  <a:srgbClr val="5A6672"/>
                </a:solidFill>
                <a:latin typeface="Calibri"/>
              </a:rPr>
              <a:t>congés en journées entières — ni demi-journées, ni jours fériés</a:t>
            </a:r>
          </a:p>
          <a:p>
            <a:pPr lvl="1">
              <a:spcAft>
                <a:spcPts val="800"/>
              </a:spcAft>
              <a:buFont typeface="Arial"/>
              <a:buChar char="–"/>
            </a:pPr>
            <a:r>
              <a:rPr sz="1400" b="0" i="0">
                <a:solidFill>
                  <a:srgbClr val="5A6672"/>
                </a:solidFill>
                <a:latin typeface="Calibri"/>
              </a:rPr>
              <a:t>pas de garde anti-doublon d'envoi : relancer = renvoyer un mail</a:t>
            </a:r>
          </a:p>
          <a:p>
            <a:pPr lvl="1">
              <a:spcAft>
                <a:spcPts val="800"/>
              </a:spcAft>
              <a:buFont typeface="Arial"/>
              <a:buChar char="–"/>
            </a:pPr>
            <a:r>
              <a:rPr sz="1400" b="0" i="0">
                <a:solidFill>
                  <a:srgbClr val="5A6672"/>
                </a:solidFill>
                <a:latin typeface="Calibri"/>
              </a:rPr>
              <a:t>Windows + PowerShell 5.1 + Excel requis ; encodages à respecter (UTF-8 BOM)</a:t>
            </a:r>
          </a:p>
          <a:p>
            <a:pPr lvl="1">
              <a:spcAft>
                <a:spcPts val="800"/>
              </a:spcAft>
              <a:buFont typeface="Arial"/>
              <a:buChar char="–"/>
            </a:pPr>
            <a:r>
              <a:rPr sz="1400" b="0" i="0">
                <a:solidFill>
                  <a:srgbClr val="5A6672"/>
                </a:solidFill>
                <a:latin typeface="Calibri"/>
              </a:rPr>
              <a:t>pas de mail récapitulatif global (chaque squad alerte ses EmailsAdmin)</a:t>
            </a:r>
          </a:p>
          <a:p>
            <a:pPr>
              <a:spcAft>
                <a:spcPts val="800"/>
              </a:spcAft>
              <a:buFont typeface="Arial"/>
              <a:buChar char="▪"/>
            </a:pPr>
            <a:r>
              <a:rPr sz="1600" b="1" i="0">
                <a:solidFill>
                  <a:srgbClr val="212B36"/>
                </a:solidFill>
                <a:latin typeface="Calibri"/>
              </a:rPr>
              <a:t>Pistes d'évolution</a:t>
            </a:r>
            <a:r>
              <a:rPr sz="1600" b="0" i="0">
                <a:solidFill>
                  <a:srgbClr val="212B36"/>
                </a:solidFill>
                <a:latin typeface="Calibri"/>
              </a:rPr>
              <a:t> :</a:t>
            </a:r>
          </a:p>
          <a:p>
            <a:pPr lvl="1">
              <a:spcAft>
                <a:spcPts val="800"/>
              </a:spcAft>
              <a:buFont typeface="Arial"/>
              <a:buChar char="–"/>
            </a:pPr>
            <a:r>
              <a:rPr sz="1400" b="0" i="0">
                <a:solidFill>
                  <a:srgbClr val="5A6672"/>
                </a:solidFill>
                <a:latin typeface="Calibri"/>
              </a:rPr>
              <a:t>jours fériés dans l'exclusion congés (calendrier français)</a:t>
            </a:r>
          </a:p>
          <a:p>
            <a:pPr lvl="1">
              <a:spcAft>
                <a:spcPts val="800"/>
              </a:spcAft>
              <a:buFont typeface="Arial"/>
              <a:buChar char="–"/>
            </a:pPr>
            <a:r>
              <a:rPr sz="1400" b="0" i="0">
                <a:solidFill>
                  <a:srgbClr val="5A6672"/>
                </a:solidFill>
                <a:latin typeface="Calibri"/>
              </a:rPr>
              <a:t>extraction du cœur de désignation en fonctions testables (Pester) sans changer le déploiement mono-fichier</a:t>
            </a:r>
          </a:p>
          <a:p>
            <a:pPr>
              <a:spcAft>
                <a:spcPts val="800"/>
              </a:spcAft>
              <a:buFont typeface="Arial"/>
              <a:buChar char="▪"/>
            </a:pPr>
            <a:r>
              <a:rPr sz="1600" b="1" i="0">
                <a:solidFill>
                  <a:srgbClr val="212B36"/>
                </a:solidFill>
                <a:latin typeface="Calibri"/>
              </a:rPr>
              <a:t>Documentation</a:t>
            </a:r>
            <a:r>
              <a:rPr sz="1600" b="0" i="0">
                <a:solidFill>
                  <a:srgbClr val="212B36"/>
                </a:solidFill>
                <a:latin typeface="Calibri"/>
              </a:rPr>
              <a:t> : page Confluence + README du dépôt (source de vérité) + exemple de config commenté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